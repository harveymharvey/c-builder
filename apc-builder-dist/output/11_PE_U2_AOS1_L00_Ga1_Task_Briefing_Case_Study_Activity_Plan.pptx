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Frequency, Intensity, Time, Type. 2) Individual, Social, Environmental/policy. 3) 150–300 min moderate OR 75–150 min vigorous MVPA/week (plus muscle-strengthening 2 days/week). 4) Strength — cheap, captures context (barriers/enablers) a tracker can't; Limitation — relies on recall and honesty, prone to over/under-reporting. Cold-call Q4 first: most students will only name the limitation (recall bias) — push for a strength too, since GA1 Part 1b requires both. This retrieves Topic 7 content and previews today's task-literacy focus: applying these ideas to the GA1 case-study task rather than teaching new Study Design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Briefing lesson, not a content lesson — delivered before case allocation. Frame explicitly: 'Today is about understanding the task, not new theory. You already know FITT, the guidelines, and the SEM from Topic 7 — today is about applying them correctly to GA1.'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AUTHORING FLAG — read before using this slide: these KK/KS items are NOT sourced verbatim from the VCE PE Study Design 2025–2029. They are task-literacy objectives for the GA1 (Case Study Edition) briefing, authored to fit the LIS slide's shape at Harvey's explicit instruction, after Harvey was warned this deck sits outside the APC schema's curriculum-lesson design (schema §2.3 requires verbatim VCAA/textbook sourcing; this content is assessment-task logistics, which has no VCAA KK/KS wording to source). The genuine Unit 2 AOS1 KK/KS — types of PA, benefits of participation, sociocultural enablers/barriers — were already taught in Topic 7.2–7.4 and are assumed prior knowledge here (see DO NOW). Plain-English translation: KK1 = 'know what you're handing in and what it's worth'; KK2 = 'know how to add up the log correctly'; KK3 = 'know how to tell if the client is meeting the guideline, including when the data is messy or contradicts what the client says'; KK4 = 'know how to explain why the plan did or didn't work using the three SEM levels'. Expected misconception: students conflate 'analysing the data' with 'describing the data' — analysis requires comparison against a benchmark (the guideline) plus interpretation of contradictions/gaps, not just restating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Progressive Disclosure (parts revealed in the order students complete them). HITS: Explicit Teaching, Setting Goals. 5Ps: Purpose. Sport-context anchor: 'From here on we'll use a practice netball log — not your real case — to see how Part 1's calculations work before you touch your own client's data.' Flag verbally: the task sheet lists Part 1 as 35 marks; the rubric document lists it as 30 — tell students you'll confirm the correct figure before marking (see meta.AUTHORING_FLAG).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Progressive Disclosure (five sequential steps). HITS: Worked Examples. 5Ps: Pedagogical Practice. Sport-context anchor: worked live using the illustrative netball log (Monday 15/20/30 = 65 total) — explicitly not one of the six real cases. Common misconception: students sum across days before totalling within a day, or estimate a missing duration instead of flagging it as incomplete — both lose marks in Part 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success criteria: all 7 days correctly totalled, weekly total correct, graph clearly shows intensity pattern, at least one incomplete entry correctly flagged rather than guessed. Common pattern: lower-ability students lean on the worked fragment for day 1 then generalise; higher-ability students often skip straight to the checklist. Likely misconception: totalling Low+Mod+Vig across the wrong day. Cold-call plan: ask a mid-ability student for Monday's total first (public worked check), then ask a stronger student to explain how they handled the incomplete entry. Stretch: 'What might explain a day with very high vigorous minutes but very low weekly consistency?' Time-check at 9 minutes: 'graph should be underway by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Cognitive Bookends (opens with the comparison rule, closes with the caution about gaps). HITS: Explicit Teaching, Questioning. 5Ps: Pedagogical Practice. Sport-context anchor: 'Is our practice netball player meeting the vigorous MVPA target on match days, or only on training days?' Misconception to pre-empt: students assume a self-report/data contradiction means the client was lying — model neutral, evidence-based language instead ('the data suggests X, which differs from the client's self-report of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is the highest-frequency VCAA command term overall (§9.2), but Part 1b of GA1 specifically uses Analyse — treat this as an out-of-sequence but task-critical insert rather than the AOS's assigned §9.4 slot term. Common error pattern: students describe the method in general terms without citing their own client's log. Second example: a student citing Sunday's implausible 140-minute bike ride as evidence of possible over-reporting bias, rather than just noting 'self-report can be inaccurate.'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success criteria: correct guideline named for the age band, accurate comparison against the calculated total, contradiction identified with a specific evidenced example (not a general comment). Common pattern: students name the guideline correctly but forget to state the specific number being compared. Misconception: assuming 'meeting the guideline on most days' is the same as 'meeting the weekly guideline.' Cold-call: ask a student who used the sentence starter to read their sentence aloud, then ask a student who didn't need it to add the contradiction analysis. Stretch: 'Which single day, if changed, would most improve this client's guideline adherence?' Time-check at 9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strategy: Thematic (three SEM levels form one coherent evaluative model, plus the comparison step). HITS: Multiple Exposures (SEM was introduced in Topic 7.4; this reapplies it to evaluation). 5Ps: Purpose. Sport-context anchor: 'For our netball player, her club training schedule is a social-level enabler; the 25-minute drive to matches is an environmental-level barrier.' Misconception: students list enablers/barriers without categorising them by SEM level, which caps Part 5 in the Medium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individually, 6 minutes, silent. Circulate for students who name a guideline but skip the data-linked justification. Reveal: read the model aloud, then annotate live against markPoints on the projected slide. Mark scheme: 1 mark per point, holistic cap if SMARTER structure is absent even when content is correct. Reteach trigger: if more than a third of the class scores 2/4 or below, reteach the SMARTER structure explicitly before Part 1c is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individually, 6 minutes, silent. Circulate for students who name a guideline but skip the data-linked justification. Reveal: read the model aloud, then annotate live against markPoints on the projected slide. Mark scheme: 1 mark per point, holistic cap if SMARTER structure is absent even when content is correct. Reteach trigger: if more than a third of the class scores 2/4 or below, reteach the SMARTER structure explicitly before Part 1c is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Continuum task: Case study: judge &amp; evaluate a plan
ACQUIRING:     Using the netball practice log, identify two days where the moderate-to-vigorous guideline was met and two where it wasn't.
CONSOLIDATING: Describe how the netball player's screen time compares to the recreational guideline across the week, using her calculated totals.
REFINING:      Explain the contradiction between what the netball player believes about her activity levels and what her calculated data shows, using specific evidence.
EXTENDING:     Evaluate whether a plan built from this data would need to focus more on increasing MVPA or reducing screen time, justifying your priority with the SEM.
MASTERING:     Design and justify a two-week SMARTER goal sequence for the netball player, integrating guideline analysis, enabler/barrier categorisation by SEM level, and predicted adherence challenges.
Teacher prompts: after 5 min check level selection; half-time prompt early finishers up a level; final 5 min students capture evidence.
Continuum task: Case study: judge &amp; evaluate a plan.
ACQUIRING: Using the netball practice log, identify two days where the moderate-to-vigorous guideline was met and two where it wasn't.
CONSOLIDATING: Describe how the netball player's screen time compares to the recreational guideline across the week, using her calculated totals.
REFINING: Explain the contradiction between what the netball player believes about her activity levels and what her calculated data shows, using specific evidence.
EXTENDING: Evaluate whether a plan built from this data would need to focus more on increasing MVPA or reducing screen time, justifying your priority with the SEM.
MASTERING: Design and justify a two-week SMARTER goal sequence for the netball player, integrating guideline analysis, enabler/barrier categorisation by SEM level, and predicted adherence challenges.
Teacher prompts during lesson:
- After 5 min: check no one stuck on level selection
- After half time: prompt early finishers to attempt the next level up
- Final 5 min: students photograph or screenshot their work as evidence this was completed before real case allocation
All five levels use the illustrative netball log only — no student should be working with their real allocated case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checks KK1 (task structure); Q2 checks KK2 + KS2 (calculation method + data-collection analysis); Q3 checks KK4 (SEM). Strong response Q1: 'Part 1, 35 marks (per the task sheet) — client description, data totals/graphs, guideline analysis, SMARTER goal.' Partial: names the marks but not the contents. Weak: names the wrong part. Strong Q2: 'It's a gap in the data, so I can't include it in the day's total or claim it disproves/proves guideline adherence.' Weak: 'it means the diary is bad.' Strong Q3: correctly labels one item as Social and one as Environmental (not just listing two barriers). Reteach trigger: if most of the class conflates Social and Environmental in Q3, revisit SEM categorisation before Part 5 is due. Collection: paper, handed in on exit. Time-to-mark estimate: ~10 minutes for 25 responses (short-answer, fast to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script: 'You now know how the 80 marks break down, how to total and graph a log correctly, how to judge guideline adherence including messy data, and how the SEM explains why a plan does or doesn't work. Next lesson you receive your real allocated case — everything today was practised on the illustrative netball log only.' Connection to next lesson: case allocation and Part 1a (client description) drafting begins next lesson. Reteach flags: fill in after this lesson runs — note here which of the four KK areas (task structure / calculation / guideline judgment / SEM) needed the most re-explanation, to shape the case-allocation lesson's opening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EEE4"/>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DO NOW — complete on entry, individually and silently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Text 4"/>
          <p:cNvSpPr/>
          <p:nvPr/>
        </p:nvSpPr>
        <p:spPr>
          <a:xfrm>
            <a:off x="182880" y="777240"/>
            <a:ext cx="11878056" cy="5760720"/>
          </a:xfrm>
          <a:prstGeom prst="rect">
            <a:avLst/>
          </a:prstGeom>
          <a:noFill/>
          <a:ln/>
        </p:spPr>
        <p:txBody>
          <a:bodyPr wrap="square" rtlCol="0" anchor="t"/>
          <a:lstStyle/>
          <a:p>
            <a:pPr marL="342900" indent="-342900">
              <a:spcAft>
                <a:spcPts val="2000"/>
              </a:spcAft>
              <a:buSzPct val="100000"/>
              <a:buFont typeface="+mj-lt"/>
              <a:buAutoNum type="arabicPeriod" startAt="1"/>
            </a:pPr>
            <a:r>
              <a:rPr lang="en-US" sz="1800" dirty="0">
                <a:solidFill>
                  <a:srgbClr val="1C1C1A"/>
                </a:solidFill>
                <a:latin typeface="Calibri" pitchFamily="34" charset="0"/>
                <a:ea typeface="Calibri" pitchFamily="34" charset="-122"/>
                <a:cs typeface="Calibri" pitchFamily="34" charset="-120"/>
              </a:rPr>
              <a:t>State the FITT acronym and what each letter stands for.</a:t>
            </a:r>
            <a:endParaRPr lang="en-US" sz="1800" dirty="0"/>
          </a:p>
          <a:p>
            <a:pPr marL="342900" indent="-342900">
              <a:spcAft>
                <a:spcPts val="2000"/>
              </a:spcAft>
              <a:buSzPct val="100000"/>
              <a:buFont typeface="+mj-lt"/>
              <a:buAutoNum type="arabicPeriod" startAt="1"/>
            </a:pPr>
            <a:r>
              <a:rPr lang="en-US" sz="1800" dirty="0">
                <a:solidFill>
                  <a:srgbClr val="1C1C1A"/>
                </a:solidFill>
                <a:latin typeface="Calibri" pitchFamily="34" charset="0"/>
                <a:ea typeface="Calibri" pitchFamily="34" charset="-122"/>
                <a:cs typeface="Calibri" pitchFamily="34" charset="-120"/>
              </a:rPr>
              <a:t>Name the three levels of the Social Ecological Model used to explain participation behaviour.</a:t>
            </a:r>
            <a:endParaRPr lang="en-US" sz="1800" dirty="0"/>
          </a:p>
          <a:p>
            <a:pPr marL="342900" indent="-342900">
              <a:spcAft>
                <a:spcPts val="2000"/>
              </a:spcAft>
              <a:buSzPct val="100000"/>
              <a:buFont typeface="+mj-lt"/>
              <a:buAutoNum type="arabicPeriod" startAt="1"/>
            </a:pPr>
            <a:r>
              <a:rPr lang="en-US" sz="1800" dirty="0">
                <a:solidFill>
                  <a:srgbClr val="1C1C1A"/>
                </a:solidFill>
                <a:latin typeface="Calibri" pitchFamily="34" charset="0"/>
                <a:ea typeface="Calibri" pitchFamily="34" charset="-122"/>
                <a:cs typeface="Calibri" pitchFamily="34" charset="-120"/>
              </a:rPr>
              <a:t>What is the recommended MVPA guideline (minutes/week) for adults aged 18–64?</a:t>
            </a:r>
            <a:endParaRPr lang="en-US" sz="1800" dirty="0"/>
          </a:p>
          <a:p>
            <a:pPr marL="342900" indent="-342900">
              <a:spcAft>
                <a:spcPts val="2000"/>
              </a:spcAft>
              <a:buSzPct val="100000"/>
              <a:buFont typeface="+mj-lt"/>
              <a:buAutoNum type="arabicPeriod" startAt="1"/>
            </a:pPr>
            <a:r>
              <a:rPr lang="en-US" sz="1800" dirty="0">
                <a:solidFill>
                  <a:srgbClr val="1C1C1A"/>
                </a:solidFill>
                <a:latin typeface="Calibri" pitchFamily="34" charset="0"/>
                <a:ea typeface="Calibri" pitchFamily="34" charset="-122"/>
                <a:cs typeface="Calibri" pitchFamily="34" charset="-120"/>
              </a:rPr>
              <a:t>Give one strength and one limitation of a self-report diary as a PA/SB data-collection method.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0F4C81"/>
          </a:solidFill>
          <a:ln w="12700">
            <a:solidFill>
              <a:srgbClr val="0F4C81"/>
            </a:solidFill>
            <a:prstDash val="solid"/>
          </a:ln>
        </p:spPr>
      </p:sp>
      <p:sp>
        <p:nvSpPr>
          <p:cNvPr id="3" name="Text 1"/>
          <p:cNvSpPr/>
          <p:nvPr/>
        </p:nvSpPr>
        <p:spPr>
          <a:xfrm>
            <a:off x="731520" y="2377440"/>
            <a:ext cx="10908792" cy="2011680"/>
          </a:xfrm>
          <a:prstGeom prst="rect">
            <a:avLst/>
          </a:prstGeom>
          <a:noFill/>
          <a:ln/>
        </p:spPr>
        <p:txBody>
          <a:bodyPr wrap="square" lIns="0" tIns="0" rIns="0" bIns="0" rtlCol="0" anchor="ctr"/>
          <a:lstStyle/>
          <a:p>
            <a:pPr algn="l" indent="0" marL="0">
              <a:buNone/>
            </a:pPr>
            <a:r>
              <a:rPr lang="en-US" sz="5200" b="1" dirty="0">
                <a:solidFill>
                  <a:srgbClr val="1C1C1A"/>
                </a:solidFill>
                <a:latin typeface="Calibri" pitchFamily="34" charset="0"/>
                <a:ea typeface="Calibri" pitchFamily="34" charset="-122"/>
                <a:cs typeface="Calibri" pitchFamily="34" charset="-120"/>
              </a:rPr>
              <a:t>GA1 Task Briefing — Case Study Activity Plan</a:t>
            </a:r>
            <a:endParaRPr lang="en-US" sz="5200" dirty="0"/>
          </a:p>
        </p:txBody>
      </p:sp>
      <p:sp>
        <p:nvSpPr>
          <p:cNvPr id="4" name="Text 2"/>
          <p:cNvSpPr/>
          <p:nvPr/>
        </p:nvSpPr>
        <p:spPr>
          <a:xfrm>
            <a:off x="731520" y="4663440"/>
            <a:ext cx="10908792" cy="365760"/>
          </a:xfrm>
          <a:prstGeom prst="rect">
            <a:avLst/>
          </a:prstGeom>
          <a:noFill/>
          <a:ln/>
        </p:spPr>
        <p:txBody>
          <a:bodyPr wrap="square" rtlCol="0" anchor="t"/>
          <a:lstStyle/>
          <a:p>
            <a:pPr algn="l" indent="0" marL="0">
              <a:buNone/>
            </a:pPr>
            <a:r>
              <a:rPr lang="en-US" sz="1800" dirty="0">
                <a:solidFill>
                  <a:srgbClr val="1C1C1A"/>
                </a:solidFill>
                <a:latin typeface="Calibri" pitchFamily="34" charset="0"/>
                <a:ea typeface="Calibri" pitchFamily="34" charset="-122"/>
                <a:cs typeface="Calibri" pitchFamily="34" charset="-120"/>
              </a:rPr>
              <a:t>Unit 2 AOS 1 — Outcome 1 (Case Study Edition)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INTENTIONS &amp; SUCCESS CRITERIA</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182880" y="640080"/>
            <a:ext cx="5803697" cy="5760720"/>
          </a:xfrm>
          <a:prstGeom prst="rect">
            <a:avLst/>
          </a:prstGeom>
          <a:solidFill>
            <a:srgbClr val="D6E4F0"/>
          </a:solidFill>
          <a:ln w="12700">
            <a:solidFill>
              <a:srgbClr val="0A3A63">
                <a:alpha val="30000"/>
              </a:srgbClr>
            </a:solidFill>
            <a:prstDash val="solid"/>
          </a:ln>
        </p:spPr>
      </p:sp>
      <p:sp>
        <p:nvSpPr>
          <p:cNvPr id="7" name="Shape 5"/>
          <p:cNvSpPr/>
          <p:nvPr/>
        </p:nvSpPr>
        <p:spPr>
          <a:xfrm>
            <a:off x="274320" y="731520"/>
            <a:ext cx="1581912" cy="292608"/>
          </a:xfrm>
          <a:prstGeom prst="rect">
            <a:avLst/>
          </a:prstGeom>
          <a:solidFill>
            <a:srgbClr val="0A3A63"/>
          </a:solidFill>
          <a:ln w="12700">
            <a:solidFill>
              <a:srgbClr val="0A3A63"/>
            </a:solidFill>
            <a:prstDash val="solid"/>
          </a:ln>
        </p:spPr>
      </p:sp>
      <p:sp>
        <p:nvSpPr>
          <p:cNvPr id="8" name="Text 6"/>
          <p:cNvSpPr/>
          <p:nvPr/>
        </p:nvSpPr>
        <p:spPr>
          <a:xfrm>
            <a:off x="274320" y="731520"/>
            <a:ext cx="158191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KNOWLEDGE</a:t>
            </a:r>
            <a:endParaRPr lang="en-US" sz="1200" dirty="0"/>
          </a:p>
        </p:txBody>
      </p:sp>
      <p:sp>
        <p:nvSpPr>
          <p:cNvPr id="9" name="Text 7"/>
          <p:cNvSpPr/>
          <p:nvPr/>
        </p:nvSpPr>
        <p:spPr>
          <a:xfrm>
            <a:off x="365760"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Outcome 1 structure: Parts 1–5 and their mark allocations across the written plan and folio</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Method for calculating intensity and time totals from a raw 7-day PA and SB log</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How to judge guideline adherence using calculated totals against the correct APASBG age band</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How the Social Ecological Model structures evaluation of plan effectiveness and future change</a:t>
            </a:r>
            <a:endParaRPr lang="en-US" sz="1800" dirty="0"/>
          </a:p>
        </p:txBody>
      </p:sp>
      <p:sp>
        <p:nvSpPr>
          <p:cNvPr id="10" name="Shape 8"/>
          <p:cNvSpPr/>
          <p:nvPr/>
        </p:nvSpPr>
        <p:spPr>
          <a:xfrm>
            <a:off x="6260897" y="640080"/>
            <a:ext cx="5803697" cy="5760720"/>
          </a:xfrm>
          <a:prstGeom prst="rect">
            <a:avLst/>
          </a:prstGeom>
          <a:solidFill>
            <a:srgbClr val="FBEEE4"/>
          </a:solidFill>
          <a:ln w="12700">
            <a:solidFill>
              <a:srgbClr val="0A3A63">
                <a:alpha val="30000"/>
              </a:srgbClr>
            </a:solidFill>
            <a:prstDash val="solid"/>
          </a:ln>
        </p:spPr>
      </p:sp>
      <p:sp>
        <p:nvSpPr>
          <p:cNvPr id="11" name="Shape 9"/>
          <p:cNvSpPr/>
          <p:nvPr/>
        </p:nvSpPr>
        <p:spPr>
          <a:xfrm>
            <a:off x="6352337" y="731520"/>
            <a:ext cx="1280160" cy="292608"/>
          </a:xfrm>
          <a:prstGeom prst="rect">
            <a:avLst/>
          </a:prstGeom>
          <a:solidFill>
            <a:srgbClr val="0A3A63"/>
          </a:solidFill>
          <a:ln w="12700">
            <a:solidFill>
              <a:srgbClr val="0A3A63"/>
            </a:solidFill>
            <a:prstDash val="solid"/>
          </a:ln>
        </p:spPr>
      </p:sp>
      <p:sp>
        <p:nvSpPr>
          <p:cNvPr id="12" name="Text 10"/>
          <p:cNvSpPr/>
          <p:nvPr/>
        </p:nvSpPr>
        <p:spPr>
          <a:xfrm>
            <a:off x="6352337" y="731520"/>
            <a:ext cx="12801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SKILLS</a:t>
            </a:r>
            <a:endParaRPr lang="en-US" sz="1200" dirty="0"/>
          </a:p>
        </p:txBody>
      </p:sp>
      <p:sp>
        <p:nvSpPr>
          <p:cNvPr id="13" name="Text 11"/>
          <p:cNvSpPr/>
          <p:nvPr/>
        </p:nvSpPr>
        <p:spPr>
          <a:xfrm>
            <a:off x="6443777" y="1188720"/>
            <a:ext cx="5440680" cy="5074920"/>
          </a:xfrm>
          <a:prstGeom prst="rect">
            <a:avLst/>
          </a:prstGeom>
          <a:noFill/>
          <a:ln/>
        </p:spPr>
        <p:txBody>
          <a:bodyPr wrap="square" rtlCol="0" anchor="t"/>
          <a:lstStyle/>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Calculate and graph frequency and time data for physical activity and sedentary behaviour</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Analyse a self-report diary method for strengths, limitations, and evidence of those limitations</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Write a SMARTER goal explicitly linked to an unmet PA or SB guideline</a:t>
            </a:r>
            <a:endParaRPr lang="en-US" sz="18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Evaluate a plan's effectiveness using pre-plan versus participation data through the SEM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Outcome 1 task structure — five parts, 80 marks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978408" cy="292608"/>
          </a:xfrm>
          <a:prstGeom prst="rect">
            <a:avLst/>
          </a:prstGeom>
          <a:solidFill>
            <a:srgbClr val="0A3A63"/>
          </a:solidFill>
          <a:ln w="12700">
            <a:solidFill>
              <a:srgbClr val="0A3A63"/>
            </a:solidFill>
            <a:prstDash val="solid"/>
          </a:ln>
        </p:spPr>
      </p:sp>
      <p:sp>
        <p:nvSpPr>
          <p:cNvPr id="8" name="Text 6"/>
          <p:cNvSpPr/>
          <p:nvPr/>
        </p:nvSpPr>
        <p:spPr>
          <a:xfrm>
            <a:off x="896112" y="1078992"/>
            <a:ext cx="9784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PROCESS</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GA1 (Case Study Edition) has five parts worth 80 marks total, each producing one piece of your written plan and folio.</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Part 1 – 35 marks: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Client description, data totals &amp; graphs, guideline analysis, SMARTER goal</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Part 2 – 15 marks: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Two-week FITT plan tailored to your client's barriers and enablers</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Part 3 – 5 marks: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Provided 14-day participation data — extract and organise it accurately</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Part 4 – 5 marks: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Interpret the reflective folio: adherence, reasons, and preparedness</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Part 5 – 20 marks: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Evaluate effectiveness using the SEM, comparing pre-plan vs participation data</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Calculating intensity totals from a raw log</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682496" cy="292608"/>
          </a:xfrm>
          <a:prstGeom prst="rect">
            <a:avLst/>
          </a:prstGeom>
          <a:solidFill>
            <a:srgbClr val="0A3A63"/>
          </a:solidFill>
          <a:ln w="12700">
            <a:solidFill>
              <a:srgbClr val="0A3A63"/>
            </a:solidFill>
            <a:prstDash val="solid"/>
          </a:ln>
        </p:spPr>
      </p:sp>
      <p:sp>
        <p:nvSpPr>
          <p:cNvPr id="8" name="Text 6"/>
          <p:cNvSpPr/>
          <p:nvPr/>
        </p:nvSpPr>
        <p:spPr>
          <a:xfrm>
            <a:off x="896112" y="1078992"/>
            <a:ext cx="1682496"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WORKED EXAMPLE</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To total a day's PA, add each intensity band's minutes; a week's total sums all seven days' totals.</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Step 1: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List each day's Low/Mod/Vig minutes separately from the log, exactly as recorded</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Step 2: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Add the three intensities for that day — e.g. netball Monday: 15+20+30 = 65 minutes</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Step 3: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Repeat for all seven days, then sum the seven daily totals for the weekly figure</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Step 4: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Where an entry is incomplete (no duration recorded), flag it — do not invent a number</a:t>
            </a:r>
            <a:endParaRPr lang="en-US" sz="2400" dirty="0"/>
          </a:p>
          <a:p>
            <a:pPr marL="342900" indent="-342900">
              <a:buSzPct val="100000"/>
              <a:buFont typeface="+mj-lt"/>
              <a:buAutoNum type="arabicPeriod" startAt="1"/>
            </a:pPr>
            <a:r>
              <a:rPr lang="en-US" sz="1800" b="1" dirty="0">
                <a:solidFill>
                  <a:srgbClr val="0A3A63"/>
                </a:solidFill>
                <a:latin typeface="Calibri" pitchFamily="34" charset="0"/>
                <a:ea typeface="Calibri" pitchFamily="34" charset="-122"/>
                <a:cs typeface="Calibri" pitchFamily="34" charset="-120"/>
              </a:rPr>
              <a:t>Step 5: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Graph the daily totals so intensity patterns and gaps are visible at a glance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ACTIVITY — Totalling &amp; graphing practice (12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Using the practice netball log provided, calculate each day's Low/Mod/Vig totals, find the weekly total, and produce one graph showing the week's PA pattern. Note any day where data is incomplete.</a:t>
            </a:r>
            <a:endParaRPr lang="en-US" sz="2400" dirty="0"/>
          </a:p>
          <a:p>
            <a:pPr indent="0" marL="0">
              <a:spcAft>
                <a:spcPts val="2400"/>
              </a:spcAft>
              <a:buNone/>
            </a:pPr>
            <a:r>
              <a:rPr lang="en-US" sz="1800" i="1" dirty="0">
                <a:solidFill>
                  <a:srgbClr val="0A3A63"/>
                </a:solidFill>
                <a:latin typeface="Calibri" pitchFamily="34" charset="0"/>
                <a:ea typeface="Calibri" pitchFamily="34" charset="-122"/>
                <a:cs typeface="Calibri" pitchFamily="34" charset="-120"/>
              </a:rPr>
              <a:t>📖 Practice netball log — teacher handout (not a real case-study client)</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Worked start: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Monday: 15 + 20 + 30 = ___ minutes total</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 All 7 days totalled ✓ Weekly total calculated ✓ Graph shows daily pattern ✓ Incomplete entries flagged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Use these terms: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intensity band, weekly total, incomplete entry, frequency</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Judging guideline adherence and reading messy data</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sp>
      <p:sp>
        <p:nvSpPr>
          <p:cNvPr id="8" name="Text 6"/>
          <p:cNvSpPr/>
          <p:nvPr/>
        </p:nvSpPr>
        <p:spPr>
          <a:xfrm>
            <a:off x="896112" y="1078992"/>
            <a:ext cx="1380744"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Compare your calculated totals to the correct APASBG age band, and treat contradictions or gaps in the data as evidence, not noise.</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Identify your client's age group first — the guideline changes with age (children, adults, older adults)</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Compare calculated totals against the MVPA, strength/balance, and screen-time thresholds for that band</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Where self-report and data disagree, state both and explain which the evidence supports</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An incomplete entry limits what you can conclude for that day — say so rather than filling the gap</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TIP — Answering 'Analyse' questions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sp>
      <p:sp>
        <p:nvSpPr>
          <p:cNvPr id="8" name="Text 6"/>
          <p:cNvSpPr/>
          <p:nvPr/>
        </p:nvSpPr>
        <p:spPr>
          <a:xfrm>
            <a:off x="896112" y="1078992"/>
            <a:ext cx="107899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EXAM TIP</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800"/>
              </a:spcAft>
              <a:buNone/>
            </a:pPr>
            <a:r>
              <a:rPr lang="en-US" sz="2400" b="1" dirty="0">
                <a:solidFill>
                  <a:srgbClr val="1C1C1A"/>
                </a:solidFill>
                <a:latin typeface="Calibri" pitchFamily="34" charset="0"/>
                <a:ea typeface="Calibri" pitchFamily="34" charset="-122"/>
                <a:cs typeface="Calibri" pitchFamily="34" charset="-120"/>
              </a:rPr>
              <a:t>Analyse means break the data into parts and show how they relate — state the method's strength, its limitation, AND point to the specific log entry that proves the limitation.</a:t>
            </a:r>
            <a:endParaRPr lang="en-US" sz="2400" dirty="0"/>
          </a:p>
          <a:p>
            <a:pPr indent="0" marL="0">
              <a:spcAft>
                <a:spcPts val="800"/>
              </a:spcAft>
              <a:buNone/>
            </a:pPr>
            <a:r>
              <a:rPr lang="en-US" sz="1800" dirty="0">
                <a:solidFill>
                  <a:srgbClr val="5A1A5A"/>
                </a:solidFill>
                <a:latin typeface="Calibri" pitchFamily="34" charset="0"/>
                <a:ea typeface="Calibri" pitchFamily="34" charset="-122"/>
                <a:cs typeface="Calibri" pitchFamily="34" charset="-120"/>
              </a:rPr>
              <a:t>✗  The self-report diary might have some errors because people forget things.</a:t>
            </a:r>
            <a:endParaRPr lang="en-US" sz="2400" dirty="0"/>
          </a:p>
          <a:p>
            <a:pPr indent="0" marL="0">
              <a:spcAft>
                <a:spcPts val="1800"/>
              </a:spcAft>
              <a:buNone/>
            </a:pPr>
            <a:r>
              <a:rPr lang="en-US" sz="1800" dirty="0">
                <a:solidFill>
                  <a:srgbClr val="15662F"/>
                </a:solidFill>
                <a:latin typeface="Calibri" pitchFamily="34" charset="0"/>
                <a:ea typeface="Calibri" pitchFamily="34" charset="-122"/>
                <a:cs typeface="Calibri" pitchFamily="34" charset="-120"/>
              </a:rPr>
              <a:t>✓  The diary relies on recall, shown by Thursday's entry recording only 'training' with no duration — a specific, evidenced limitation.</a:t>
            </a:r>
            <a:endParaRPr lang="en-US" sz="2400" dirty="0"/>
          </a:p>
          <a:p>
            <a:pPr indent="0" marL="0">
              <a:buNone/>
            </a:pPr>
            <a:r>
              <a:rPr lang="en-US" sz="1800" i="1" dirty="0">
                <a:solidFill>
                  <a:srgbClr val="1C1C1A"/>
                </a:solidFill>
                <a:latin typeface="Calibri" pitchFamily="34" charset="0"/>
                <a:ea typeface="Calibri" pitchFamily="34" charset="-122"/>
                <a:cs typeface="Calibri" pitchFamily="34" charset="-120"/>
              </a:rPr>
              <a:t>Why it matters: Vague method comments cap responses at Low/Medium band; analysis needs a named strength, a named limitation, AND log evidence.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15662F"/>
          </a:solidFill>
          <a:ln w="12700">
            <a:solidFill>
              <a:srgbClr val="15662F"/>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LEARNING ACTIVITY — Guideline judgment practice (12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Using the netball player's calculated weekly totals, determine whether the APASBG for her age group is met. Identify one place where her self-report and the data disagree, and explain which the evidence supports.</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SCAFFOLDING — USE WHAT YOU NEED</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Start with: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The data shows my client's weekly total was ___ minutes, which ___ the guideline of ___ because...</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Structure: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State the guideline → state the calculated total → compare → explain the contradiction</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Check you have: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 Correct age-band guideline named ✓ Totals compared ✓ Contradiction identified with evidence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0F4C81"/>
          </a:solidFill>
          <a:ln w="12700">
            <a:solidFill>
              <a:srgbClr val="0F4C81"/>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I DO — Evaluating a plan using the SEM</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380744" cy="292608"/>
          </a:xfrm>
          <a:prstGeom prst="rect">
            <a:avLst/>
          </a:prstGeom>
          <a:solidFill>
            <a:srgbClr val="0A3A63"/>
          </a:solidFill>
          <a:ln w="12700">
            <a:solidFill>
              <a:srgbClr val="0A3A63"/>
            </a:solidFill>
            <a:prstDash val="solid"/>
          </a:ln>
        </p:spPr>
      </p:sp>
      <p:sp>
        <p:nvSpPr>
          <p:cNvPr id="8" name="Text 6"/>
          <p:cNvSpPr/>
          <p:nvPr/>
        </p:nvSpPr>
        <p:spPr>
          <a:xfrm>
            <a:off x="896112" y="1078992"/>
            <a:ext cx="1380744"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CONCEPT</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400"/>
              </a:spcAft>
              <a:buNone/>
            </a:pPr>
            <a:r>
              <a:rPr lang="en-US" sz="2400" b="1" dirty="0">
                <a:solidFill>
                  <a:srgbClr val="1C1C1A"/>
                </a:solidFill>
                <a:latin typeface="Calibri" pitchFamily="34" charset="0"/>
                <a:ea typeface="Calibri" pitchFamily="34" charset="-122"/>
                <a:cs typeface="Calibri" pitchFamily="34" charset="-120"/>
              </a:rPr>
              <a:t>The SEM explains adherence and non-adherence across individual, social, and environmental/policy levels — not just willpower.</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Individual: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Physiological and psychological preparedness — fatigue, mood, motivation on a given day</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Social: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Family, friends, coaches, and cultural expectations that support or block participation</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Environmental: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Facility access, transport, weather, cost, and policy factors shaping what's realistic</a:t>
            </a:r>
            <a:endParaRPr lang="en-US" sz="2400" dirty="0"/>
          </a:p>
          <a:p>
            <a:pPr marL="342900" indent="-342900">
              <a:buSzPct val="100000"/>
              <a:buChar char="■"/>
            </a:pPr>
            <a:r>
              <a:rPr lang="en-US" sz="1800" b="1" dirty="0">
                <a:solidFill>
                  <a:srgbClr val="0A3A63"/>
                </a:solidFill>
                <a:latin typeface="Calibri" pitchFamily="34" charset="0"/>
                <a:ea typeface="Calibri" pitchFamily="34" charset="-122"/>
                <a:cs typeface="Calibri" pitchFamily="34" charset="-120"/>
              </a:rPr>
              <a:t>Comparing: </a:t>
            </a:r>
            <a:pPr indent="0" marL="0">
              <a:spcAft>
                <a:spcPts val="800"/>
              </a:spcAft>
              <a:buNone/>
            </a:pPr>
            <a:r>
              <a:rPr lang="en-US" sz="1800" dirty="0">
                <a:solidFill>
                  <a:srgbClr val="1C1C1A"/>
                </a:solidFill>
                <a:latin typeface="Calibri" pitchFamily="34" charset="0"/>
                <a:ea typeface="Calibri" pitchFamily="34" charset="-122"/>
                <a:cs typeface="Calibri" pitchFamily="34" charset="-120"/>
              </a:rPr>
              <a:t>Compare pre-plan and participation data on FITT and SB to judge whether the plan worked</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Justifying a SMARTER goal (4 marks, 6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078992" cy="292608"/>
          </a:xfrm>
          <a:prstGeom prst="rect">
            <a:avLst/>
          </a:prstGeom>
          <a:solidFill>
            <a:srgbClr val="0A3A63"/>
          </a:solidFill>
          <a:ln w="12700">
            <a:solidFill>
              <a:srgbClr val="0A3A63"/>
            </a:solidFill>
            <a:prstDash val="solid"/>
          </a:ln>
        </p:spPr>
      </p:sp>
      <p:sp>
        <p:nvSpPr>
          <p:cNvPr id="8" name="Text 6"/>
          <p:cNvSpPr/>
          <p:nvPr/>
        </p:nvSpPr>
        <p:spPr>
          <a:xfrm>
            <a:off x="896112" y="1078992"/>
            <a:ext cx="1078992"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2400"/>
              </a:spcAft>
              <a:buNone/>
            </a:pPr>
            <a:r>
              <a:rPr lang="en-US" sz="2400" b="1" dirty="0">
                <a:solidFill>
                  <a:srgbClr val="1C1C1A"/>
                </a:solidFill>
                <a:latin typeface="Calibri" pitchFamily="34" charset="0"/>
                <a:ea typeface="Calibri" pitchFamily="34" charset="-122"/>
                <a:cs typeface="Calibri" pitchFamily="34" charset="-120"/>
              </a:rPr>
              <a:t>Your client's weekly log shows she met the moderate-to-vigorous activity guideline on only 2 of 7 days, with screen time exceeding 2 hours on 6 of 7 days. Justify a SMARTER goal for the first week of her plan, linking it explicitly to the guideline she is not meeting.</a:t>
            </a:r>
            <a:endParaRPr lang="en-US" sz="24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HOW TO APPROACH</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Name the specific unmet guideline using the calculated data (day count, minutes)</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State the goal so each SMARTER letter is checkable (Specific, Measurable, etc.)</a:t>
            </a:r>
            <a:endParaRPr lang="en-US" sz="2400" dirty="0"/>
          </a:p>
          <a:p>
            <a:pPr marL="342900" indent="-342900">
              <a:spcAft>
                <a:spcPts val="800"/>
              </a:spcAft>
              <a:buSzPct val="100000"/>
              <a:buChar char="■"/>
            </a:pPr>
            <a:r>
              <a:rPr lang="en-US" sz="1800" dirty="0">
                <a:solidFill>
                  <a:srgbClr val="1C1C1A"/>
                </a:solidFill>
                <a:latin typeface="Calibri" pitchFamily="34" charset="0"/>
                <a:ea typeface="Calibri" pitchFamily="34" charset="-122"/>
                <a:cs typeface="Calibri" pitchFamily="34" charset="-120"/>
              </a:rPr>
              <a:t>Link the goal back to the guideline in one closing sentence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EXAM PRACTICE — Modelled Answer (4 marks)</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1783080" cy="292608"/>
          </a:xfrm>
          <a:prstGeom prst="rect">
            <a:avLst/>
          </a:prstGeom>
          <a:solidFill>
            <a:srgbClr val="0A3A63"/>
          </a:solidFill>
          <a:ln w="12700">
            <a:solidFill>
              <a:srgbClr val="0A3A63"/>
            </a:solidFill>
            <a:prstDash val="solid"/>
          </a:ln>
        </p:spPr>
      </p:sp>
      <p:sp>
        <p:nvSpPr>
          <p:cNvPr id="8" name="Text 6"/>
          <p:cNvSpPr/>
          <p:nvPr/>
        </p:nvSpPr>
        <p:spPr>
          <a:xfrm>
            <a:off x="896112" y="1078992"/>
            <a:ext cx="1783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MODELLED ANSWER</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indent="0" marL="0">
              <a:spcAft>
                <a:spcPts val="1800"/>
              </a:spcAft>
              <a:buNone/>
            </a:pPr>
            <a:r>
              <a:rPr lang="en-US" sz="1800" dirty="0">
                <a:solidFill>
                  <a:srgbClr val="1C1C1A"/>
                </a:solidFill>
                <a:latin typeface="Calibri" pitchFamily="34" charset="0"/>
                <a:ea typeface="Calibri" pitchFamily="34" charset="-122"/>
                <a:cs typeface="Calibri" pitchFamily="34" charset="-120"/>
              </a:rPr>
              <a:t>My client met MVPA on only 2 of 7 days and exceeded 2 hours' screen time on 6 days, so screen time is her biggest gap. Goal: cut evening screen time to under 90 minutes on 5 week nights, tracked nightly and reviewed after week one. This is specific and measurable, and it targets the guideline she is furthest from meeting.</a:t>
            </a:r>
            <a:endParaRPr lang="en-US" sz="1800" dirty="0"/>
          </a:p>
          <a:p>
            <a:pPr indent="0" marL="0">
              <a:spcAft>
                <a:spcPts val="1200"/>
              </a:spcAft>
              <a:buNone/>
            </a:pPr>
            <a:r>
              <a:rPr lang="en-US" sz="1800" b="1" dirty="0">
                <a:solidFill>
                  <a:srgbClr val="0A3A63"/>
                </a:solidFill>
                <a:latin typeface="Calibri" pitchFamily="34" charset="0"/>
                <a:ea typeface="Calibri" pitchFamily="34" charset="-122"/>
                <a:cs typeface="Calibri" pitchFamily="34" charset="-120"/>
              </a:rPr>
              <a:t>MARKS AWARDED FOR</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Names the specific unmet guideline using calculated data, not a vague claim</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Goal is specific and measurable (exact time/frequency stated)</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Goal is realistic and relevant to the client's actual data</a:t>
            </a:r>
            <a:endParaRPr lang="en-US" sz="1800" dirty="0"/>
          </a:p>
          <a:p>
            <a:pPr indent="0" marL="0">
              <a:spcAft>
                <a:spcPts val="600"/>
              </a:spcAft>
              <a:buNone/>
            </a:pPr>
            <a:r>
              <a:rPr lang="en-US" sz="1800" dirty="0">
                <a:solidFill>
                  <a:srgbClr val="15662F"/>
                </a:solidFill>
                <a:latin typeface="Calibri" pitchFamily="34" charset="0"/>
                <a:ea typeface="Calibri" pitchFamily="34" charset="-122"/>
                <a:cs typeface="Calibri" pitchFamily="34" charset="-120"/>
              </a:rPr>
              <a:t>✓  Goal explicitly links back to the guideline in a closing statement</a:t>
            </a:r>
            <a:endParaRPr lang="en-US" sz="1800" dirty="0"/>
          </a:p>
          <a:p>
            <a:pPr indent="0" marL="0">
              <a:buNone/>
            </a:pPr>
            <a:r>
              <a:rPr lang="en-US" sz="1800" i="1" dirty="0">
                <a:solidFill>
                  <a:srgbClr val="5A1A5A"/>
                </a:solidFill>
                <a:latin typeface="Calibri" pitchFamily="34" charset="0"/>
                <a:ea typeface="Calibri" pitchFamily="34" charset="-122"/>
                <a:cs typeface="Calibri" pitchFamily="34" charset="-120"/>
              </a:rPr>
              <a:t>Common error: Students write a generic 'be more active' goal without SMARTER structure or a guideline link — this scores Low/Medium band only.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8A3210"/>
          </a:solidFill>
          <a:ln w="12700">
            <a:solidFill>
              <a:srgbClr val="8A3210"/>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YOU DO — Case study: judge &amp; evaluate a plan (20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1097280"/>
            <a:ext cx="10725912" cy="502920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Text 5"/>
          <p:cNvSpPr/>
          <p:nvPr/>
        </p:nvSpPr>
        <p:spPr>
          <a:xfrm>
            <a:off x="896112" y="1280160"/>
            <a:ext cx="10396728" cy="4663440"/>
          </a:xfrm>
          <a:prstGeom prst="rect">
            <a:avLst/>
          </a:prstGeom>
          <a:noFill/>
          <a:ln/>
        </p:spPr>
        <p:txBody>
          <a:bodyPr wrap="square" rtlCol="0" anchor="ctr"/>
          <a:lstStyle/>
          <a:p>
            <a:pPr algn="ctr" indent="0" marL="0">
              <a:spcAft>
                <a:spcPts val="1800"/>
              </a:spcAft>
              <a:buNone/>
            </a:pPr>
            <a:r>
              <a:rPr lang="en-US" sz="2800" b="1" dirty="0">
                <a:solidFill>
                  <a:srgbClr val="1C1C1A"/>
                </a:solidFill>
                <a:latin typeface="Calibri" pitchFamily="34" charset="0"/>
                <a:ea typeface="Calibri" pitchFamily="34" charset="-122"/>
                <a:cs typeface="Calibri" pitchFamily="34" charset="-120"/>
              </a:rPr>
              <a:t>Open the Challenge Continuum task on the portal</a:t>
            </a:r>
            <a:endParaRPr lang="en-US" sz="2800" dirty="0"/>
          </a:p>
          <a:p>
            <a:pPr algn="ctr" indent="0" marL="0">
              <a:spcAft>
                <a:spcPts val="1800"/>
              </a:spcAft>
              <a:buNone/>
            </a:pPr>
            <a:r>
              <a:rPr lang="en-US" sz="2200" dirty="0">
                <a:solidFill>
                  <a:srgbClr val="0A3A63"/>
                </a:solidFill>
                <a:latin typeface="Calibri" pitchFamily="34" charset="0"/>
                <a:ea typeface="Calibri" pitchFamily="34" charset="-122"/>
                <a:cs typeface="Calibri" pitchFamily="34" charset="-120"/>
              </a:rPr>
              <a:t>Case study: judge &amp; evaluate a plan</a:t>
            </a:r>
            <a:endParaRPr lang="en-US" sz="2800" dirty="0"/>
          </a:p>
          <a:p>
            <a:pPr algn="ctr" indent="0" marL="0">
              <a:buNone/>
            </a:pPr>
            <a:r>
              <a:rPr lang="en-US" sz="2000" i="1" dirty="0">
                <a:solidFill>
                  <a:srgbClr val="1C1C1A"/>
                </a:solidFill>
                <a:latin typeface="Calibri" pitchFamily="34" charset="0"/>
                <a:ea typeface="Calibri" pitchFamily="34" charset="-122"/>
                <a:cs typeface="Calibri" pitchFamily="34" charset="-120"/>
              </a:rPr>
              <a:t>20 minutes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12191695" cy="512064"/>
          </a:xfrm>
          <a:prstGeom prst="rect">
            <a:avLst/>
          </a:prstGeom>
          <a:solidFill>
            <a:srgbClr val="5A1A5A"/>
          </a:solidFill>
          <a:ln w="12700">
            <a:solidFill>
              <a:srgbClr val="5A1A5A"/>
            </a:solidFill>
            <a:prstDash val="solid"/>
          </a:ln>
        </p:spPr>
      </p:sp>
      <p:sp>
        <p:nvSpPr>
          <p:cNvPr id="3" name="Shape 1"/>
          <p:cNvSpPr/>
          <p:nvPr/>
        </p:nvSpPr>
        <p:spPr>
          <a:xfrm>
            <a:off x="0" y="0"/>
            <a:ext cx="54864" cy="512064"/>
          </a:xfrm>
          <a:prstGeom prst="rect">
            <a:avLst/>
          </a:prstGeom>
          <a:solidFill>
            <a:srgbClr val="0A3A63"/>
          </a:solidFill>
          <a:ln w="12700">
            <a:solidFill>
              <a:srgbClr val="0A3A63"/>
            </a:solidFill>
            <a:prstDash val="solid"/>
          </a:ln>
        </p:spPr>
      </p:sp>
      <p:sp>
        <p:nvSpPr>
          <p:cNvPr id="4" name="Text 2"/>
          <p:cNvSpPr/>
          <p:nvPr/>
        </p:nvSpPr>
        <p:spPr>
          <a:xfrm>
            <a:off x="164592" y="0"/>
            <a:ext cx="11978640" cy="512064"/>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 EXIT CARD (5 min)</a:t>
            </a:r>
            <a:endParaRPr lang="en-US" sz="1600" dirty="0"/>
          </a:p>
        </p:txBody>
      </p:sp>
      <p:sp>
        <p:nvSpPr>
          <p:cNvPr id="5" name="Shape 3"/>
          <p:cNvSpPr/>
          <p:nvPr/>
        </p:nvSpPr>
        <p:spPr>
          <a:xfrm>
            <a:off x="0" y="512064"/>
            <a:ext cx="54864" cy="6345936"/>
          </a:xfrm>
          <a:prstGeom prst="rect">
            <a:avLst/>
          </a:prstGeom>
          <a:solidFill>
            <a:srgbClr val="0A3A63"/>
          </a:solidFill>
          <a:ln w="12700">
            <a:solidFill>
              <a:srgbClr val="0A3A63"/>
            </a:solidFill>
            <a:prstDash val="solid"/>
          </a:ln>
        </p:spPr>
      </p:sp>
      <p:sp>
        <p:nvSpPr>
          <p:cNvPr id="6" name="Shape 4"/>
          <p:cNvSpPr/>
          <p:nvPr/>
        </p:nvSpPr>
        <p:spPr>
          <a:xfrm>
            <a:off x="731520" y="914400"/>
            <a:ext cx="10725912" cy="53949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896112" y="1078992"/>
            <a:ext cx="822960" cy="292608"/>
          </a:xfrm>
          <a:prstGeom prst="rect">
            <a:avLst/>
          </a:prstGeom>
          <a:solidFill>
            <a:srgbClr val="0A3A63"/>
          </a:solidFill>
          <a:ln w="12700">
            <a:solidFill>
              <a:srgbClr val="0A3A63"/>
            </a:solidFill>
            <a:prstDash val="solid"/>
          </a:ln>
        </p:spPr>
      </p:sp>
      <p:sp>
        <p:nvSpPr>
          <p:cNvPr id="8" name="Text 6"/>
          <p:cNvSpPr/>
          <p:nvPr/>
        </p:nvSpPr>
        <p:spPr>
          <a:xfrm>
            <a:off x="896112" y="1078992"/>
            <a:ext cx="8229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9" name="Text 7"/>
          <p:cNvSpPr/>
          <p:nvPr/>
        </p:nvSpPr>
        <p:spPr>
          <a:xfrm>
            <a:off x="896112" y="1517904"/>
            <a:ext cx="10396728" cy="4663440"/>
          </a:xfrm>
          <a:prstGeom prst="rect">
            <a:avLst/>
          </a:prstGeom>
          <a:noFill/>
          <a:ln/>
        </p:spPr>
        <p:txBody>
          <a:bodyPr wrap="square" rtlCol="0" anchor="t"/>
          <a:lstStyle/>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Which Part of GA1 is worth the most marks, and what must it include?</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In the netball practice log, why does a missing duration on 'training' matter for your analysis?</a:t>
            </a:r>
            <a:endParaRPr lang="en-US" sz="2400" dirty="0"/>
          </a:p>
          <a:p>
            <a:pPr marL="342900" indent="-342900">
              <a:spcAft>
                <a:spcPts val="1800"/>
              </a:spcAft>
              <a:buSzPct val="100000"/>
              <a:buFont typeface="+mj-lt"/>
              <a:buAutoNum type="arabicPeriod" startAt="1"/>
            </a:pPr>
            <a:r>
              <a:rPr lang="en-US" sz="2400" dirty="0">
                <a:solidFill>
                  <a:srgbClr val="1C1C1A"/>
                </a:solidFill>
                <a:latin typeface="Calibri" pitchFamily="34" charset="0"/>
                <a:ea typeface="Calibri" pitchFamily="34" charset="-122"/>
                <a:cs typeface="Calibri" pitchFamily="34" charset="-120"/>
              </a:rPr>
              <a:t>Name one enabler and one barrier, from different SEM levels, that could shape a plan for the practice client.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81"/>
        </a:solidFill>
      </p:bgPr>
    </p:bg>
    <p:spTree>
      <p:nvGrpSpPr>
        <p:cNvPr id="1" name=""/>
        <p:cNvGrpSpPr/>
        <p:nvPr/>
      </p:nvGrpSpPr>
      <p:grpSpPr>
        <a:xfrm>
          <a:off x="0" y="0"/>
          <a:ext cx="0" cy="0"/>
          <a:chOff x="0" y="0"/>
          <a:chExt cx="0" cy="0"/>
        </a:xfrm>
      </p:grpSpPr>
      <p:sp>
        <p:nvSpPr>
          <p:cNvPr id="2" name="Shape 0"/>
          <p:cNvSpPr/>
          <p:nvPr/>
        </p:nvSpPr>
        <p:spPr>
          <a:xfrm>
            <a:off x="731520" y="548640"/>
            <a:ext cx="10725912" cy="5760720"/>
          </a:xfrm>
          <a:prstGeom prst="rect">
            <a:avLst/>
          </a:prstGeom>
          <a:solidFill>
            <a:srgbClr val="FFFFFF"/>
          </a:solidFill>
          <a:ln w="12700">
            <a:solidFill>
              <a:srgbClr val="FFFFFF"/>
            </a:solidFill>
            <a:prstDash val="solid"/>
          </a:ln>
          <a:effectLst>
            <a:outerShdw sx="100000" sy="100000" kx="0" ky="0" algn="bl" rotWithShape="0" blurRad="76200" dist="38100" dir="8100000">
              <a:srgbClr val="000000">
                <a:alpha val="12000"/>
              </a:srgbClr>
            </a:outerShdw>
          </a:effectLst>
        </p:spPr>
      </p:sp>
      <p:sp>
        <p:nvSpPr>
          <p:cNvPr id="3" name="Shape 1"/>
          <p:cNvSpPr/>
          <p:nvPr/>
        </p:nvSpPr>
        <p:spPr>
          <a:xfrm>
            <a:off x="896112" y="768096"/>
            <a:ext cx="2185416" cy="292608"/>
          </a:xfrm>
          <a:prstGeom prst="rect">
            <a:avLst/>
          </a:prstGeom>
          <a:solidFill>
            <a:srgbClr val="0A3A63"/>
          </a:solidFill>
          <a:ln w="12700">
            <a:solidFill>
              <a:srgbClr val="0A3A63"/>
            </a:solidFill>
            <a:prstDash val="solid"/>
          </a:ln>
        </p:spPr>
      </p:sp>
      <p:sp>
        <p:nvSpPr>
          <p:cNvPr id="4" name="Text 2"/>
          <p:cNvSpPr/>
          <p:nvPr/>
        </p:nvSpPr>
        <p:spPr>
          <a:xfrm>
            <a:off x="896112" y="768096"/>
            <a:ext cx="2185416"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 SHOULD NOW KNOW</a:t>
            </a:r>
            <a:endParaRPr lang="en-US" sz="1200" dirty="0"/>
          </a:p>
        </p:txBody>
      </p:sp>
      <p:sp>
        <p:nvSpPr>
          <p:cNvPr id="5" name="Text 3"/>
          <p:cNvSpPr/>
          <p:nvPr/>
        </p:nvSpPr>
        <p:spPr>
          <a:xfrm>
            <a:off x="896112" y="1207008"/>
            <a:ext cx="10396728" cy="4937760"/>
          </a:xfrm>
          <a:prstGeom prst="rect">
            <a:avLst/>
          </a:prstGeom>
          <a:noFill/>
          <a:ln/>
        </p:spPr>
        <p:txBody>
          <a:bodyPr wrap="square" rtlCol="0" anchor="t"/>
          <a:lstStyle/>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Outcome 1 structure: Parts 1–5 and their mark allocations across the written plan and folio</a:t>
            </a:r>
            <a:endParaRPr lang="en-US" sz="2000" dirty="0"/>
          </a:p>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Method for calculating intensity and time totals from a raw 7-day PA and SB log</a:t>
            </a:r>
            <a:endParaRPr lang="en-US" sz="2000" dirty="0"/>
          </a:p>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How to judge guideline adherence using calculated totals against the correct APASBG age band</a:t>
            </a:r>
            <a:endParaRPr lang="en-US" sz="2000" dirty="0"/>
          </a:p>
          <a:p>
            <a:pPr marL="342900" indent="-342900">
              <a:spcAft>
                <a:spcPts val="1000"/>
              </a:spcAft>
              <a:buSzPct val="100000"/>
              <a:buChar char="■"/>
            </a:pPr>
            <a:r>
              <a:rPr lang="en-US" sz="2000" dirty="0">
                <a:solidFill>
                  <a:srgbClr val="1C1C1A"/>
                </a:solidFill>
                <a:latin typeface="Calibri" pitchFamily="34" charset="0"/>
                <a:ea typeface="Calibri" pitchFamily="34" charset="-122"/>
                <a:cs typeface="Calibri" pitchFamily="34" charset="-120"/>
              </a:rPr>
              <a:t>How the Social Ecological Model structures evaluation of plan effectiveness and future change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GA1 Task Briefing — Case Study Activity Plan</dc:title>
  <dc:subject>PptxGenJS Presentation</dc:subject>
  <dc:creator>PptxGenJS</dc:creator>
  <cp:lastModifiedBy>PptxGenJS</cp:lastModifiedBy>
  <cp:revision>1</cp:revision>
  <dcterms:created xsi:type="dcterms:W3CDTF">2026-07-13T10:00:49Z</dcterms:created>
  <dcterms:modified xsi:type="dcterms:W3CDTF">2026-07-13T10:00:49Z</dcterms:modified>
</cp:coreProperties>
</file>