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8" d="100"/>
          <a:sy n="118" d="100"/>
        </p:scale>
        <p:origin x="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9219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practice on Topic 7.4 (last lesson). Definitions: Family = active parents/siblings model and enable behaviour, or lack of role models/resources acts as a barrier. Peers = friendship-group motivation, gym buddies and rivalry enable; social exclusion and undervaluing PA are barriers. Socioeconomic status = income/occupation/education shaping access to equipment, facilities and transport. Community = availability of sport and safety of the local area. Cultural norms = attitudes and inclusion practices (e.g. discrimination as a barrier, multilingual/flexible programs as enablers). Gender = stereotyping and under-representation in leadership as barriers; challenging stereotypes as an enabler. Students should know Family, Peers and SES 'cold' (repeatedly tested); Community and Cultural norms are the stretch pair — expect more hesitation there. This sets up today's lesson: guidelines specify HOW MUCH activity is needed: 7.4 explained WHY people do or don't reach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of the Topic 7 sequence (7.2 Types of PA, 7.3 Benefits, 7.4 Sociocultural enablers/barriers, 7.5 Guidelines — this lesson). Recap 30 seconds: 'Last lesson we covered WHY people are or aren't active. Today we cover exactly HOW MUCH activity the Australian Government recommends for every stage of life, from birth to 65+.' Sport context: swimming, chosen because it is the one activity referenced across every age band in the textbook (splash play → swim lessons → squad → masters laps → hydrotherapy).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KK/KS verbatim from VCE PE Study Design 2025–2029 / Jacaranda 7.5 key knowledge box. This is a single KK item but it spans four distinct age population groups (0–5, 5–17, 18–64, 65+), each with its own PA, strength and sedentary/screen-time components (5–17 also has sleep) — so it is taught across four I DO slides (Section 4 authoring note: KK item too broad for one slide, confirmed with Harvey to split by age band rather than compress or split into two lessons). Plain-English translation: 'How much movement, and how much sitting/screen time, is recommended at each stage of your life?' Success criteria for today: by the end, students can state the PA, strength and sedentary/screen guideline for any of the four age bands, and can check whether a described person's week meets their guideline. Misconception to pre-empt: students often think 'more exercise always overrides screen time' — guidelines treat PA and sedentary behaviour as two separate, both-must-be-met targets (7.6.1 introduces this explicitly next lesson).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Age-band chunking (1 of 4) — Infants and Toddlers grouped as the textbook's own 0–5 sub-heading, rather than splitting into two slides, since together they are one coherent 'early years' guideline set and stay within the 5-bullet cap. HITS: Explicit Teaching, Multiple Exposures (Table 7.8 restates these figures — flag that table splits 1–2 vs 3–5 slightly finer than this slide's 'toddlers 1–5' grouping; both are correct, this slide uses the body-text grouping for teaching economy). 5Ps: Pedagogical Practice (chunked by life stage). Sport-context anchor: a parent enrolling their toddler in a swim school's 'splash and play' class is meeting the toddler PA guideline through structured aquatic active play. Cold-call: ask students to name an activity that would count as a toddler's '3 hours' before revealing the swim example.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Age-band chunking (2 of 4) — this is the age band most students are personally in, so expect high engagement; use it to check understanding before moving to the adult bands. HITS: Explicit Teaching, Worked Examples. 5Ps: Pedagogical Practice, Participation (ask for a show of hands on who trains 3+ days/week). Sport-context anchor: a 15-year-old on the swim squad doing three 90-minute pool sessions a week meets both the daily-activity AND the strength/bone components through sprint sets and dive-start repetitions. Misconception: students often forget the sleep component is part of THIS guideline set, not a separate one — flag explicitly.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Practises I DO 1 and I DO 2 together. Provide each pair a short fictional weekly log (PA minutes/day, screen hours/day) for either a 4-year-old or a 12-year-old swimmer — half the class gets each age so the class-share covers both bands. Mastery-level success: names the gap AND states which guideline component it falls under (not just 'not active enough'). Common misconception: pairs check PA minutes but forget the screen-time or (for the 12-year-old) strength component — cold-call a pair that only checked one component first, then a pair that checked all. Stretch prompt for early finishers: 'What single change would fix the gap with minimum disruption to their existing routine?' Time-check at 12 minutes: 'finish your current comparison, prepare to share your gap.'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Age-band chunking (3 of 4). HITS: Explicit Teaching, Multiple Exposures (aerobic 'moderate OR vigorous OR combination' pattern echoes the FITT-style reasoning students will meet again in later AOS units). 5Ps: Pedagogical Practice. Sport-context anchor: a masters swimmer doing three 50-minute lap-swimming sessions a week (moderate intensity) is close to but just under the 2.5-hr moderate minimum — use this as a discussion hook into the following Learning Activity. Note for teacher: textbook states 2.5–5 hrs moderate OR 1.25–2.5 hrs vigorous OR an equivalent combination — Table 7.8 simplifies this to '150+ minutes'; both figures are consistent (150 min = 2.5 hrs), flag the equivalence explicitly so students aren't confused by two-looking-different numbers.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Age-band chunking (4 of 4). HITS: Explicit Teaching, Differentiated Teaching. 5Ps: Pedagogical Practice. Sport-context anchor: hydrotherapy and aqua aerobics are the textbook's own examples for older adults with health conditions, so swimming/aquatic activity is the natural bridge from the 18–64 slide. Extension content (deliberately kept out of the bullet list to stay within the 5-bullet cap — cover verbally): the textbook links specific health conditions to specific activity choices — heart problems/diabetes/asthma → moderate walking or swimming; arthritis → hydrotherapy or warm-pool swimming; osteoporosis → weight-bearing and strength activities. Raise this verbally as 'why swimming/hydrotherapy specifically' rather than adding a fifth bullet. Misconception: students assume 'older = guideline is lower effort' — clarify daily frequency is actually MORE consistent than the 18–64 guideline (every day vs 'most days'), even though the daily minutes are lower.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Practises I DO 3 and I DO 4 together — half the groups get the 45-year-old (18–64 guideline), half get the 70-year-old (65+ guideline), so the whole-class share compares both. Mastery-level success: a 7-day plan where every day is filled AND the group can point to which guideline component each session satisfies. Common misconception: groups build a plan with only aerobic sessions and forget the strength/resistance component — cold-call a group that has forgotten it before revealing the checklist. Reteach trigger: if most groups miss the sedentary-time component (not just the active minutes), spend 2 extra minutes next lesson revisiting that it is a SEPARATE guideline, not a by-product of doing enough PA. Stretch: 'Which single day of your plan would be easiest to skip without breaking the guideline — and why is that risky in practice?'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VCAA definition (APC phrasing): give a detailed account of the features, characteristics or process — include what happens and when, but not why. What it demands: a clear, step-by-step or feature-by-feature account; specific detail appropriate to the mark level (1 mark = 1 key feature, 2 marks = 2 features or a short sequential process); reference to the specific scenario given. Common errors (from APC_PE §9.6): describing generally when the question specifies a context; slipping into explanation ('because...') when only description is asked; missing steps in a process description. Pedagogical focus: detail without reasoning — Describe is harder than it looks because students over-interpret it as 'Explain'. mark_signal for students: 'Did you describe WHAT happens — not WHY? Is every feature specific to the age band or scenario given?' Cycle slot L4 (Consolidating) — first exposure this AOS; will recur at L14 later in the sequence.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(question): individual attempt, 5 minutes, silent. Circulate checking students have named THREE distinct features, not elaborated on one. Slide 2 (modelled answer): reveal after the 5 minutes; read aloud, then have students self-mark against the three markPoints using a highlighter on their own response. Mark scheme detail: each markPoint is worth 1 mark; award the mark if the feature is present with its correct figure (e.g. '60 minutes' or '3 days'), not just named in general terms. Exam-report source: 2024 VCE PE examiner report flags off-task 'why' content as the dominant error on describe-style questions generally. Reteach trigger: if more than a third of the class misses the strength/bone component, revisit I DO 2 briefly next lesson before moving on to 7.6.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(question): individual attempt, 5 minutes, silent. Circulate checking students have named THREE distinct features, not elaborated on one. Slide 2 (modelled answer): reveal after the 5 minutes; read aloud, then have students self-mark against the three markPoints using a highlighter on their own response. Mark scheme detail: each markPoint is worth 1 mark; award the mark if the feature is present with its correct figure (e.g. '60 minutes' or '3 days'), not just named in general terms. Exam-report source: 2024 VCE PE examiner report flags off-task 'why' content as the dominant error on describe-style questions generally. Reteach trigger: if more than a third of the class misses the strength/bone component, revisit I DO 2 briefly next lesson before moving on to 7.6.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Continuum task: Lifespan Guidelines Continuum — Swimming
ACQUIRING:     Acquiring: Identify the daily physical activity guideline for a 5-year-old learning to swim and for a 70-year-old hydrotherapy client.
CONSOLIDATING: Consolidating: Describe the physical activity and sedentary behaviour guidelines for a 15-year-old competitive swimmer, including the strength/bone and screen-time components.
REFINING:      Refining: Explain why a 35-year-old masters swimmer's weekly activity minutes differ from a 70-year-old's, using the guidelines' age bands as evidence.
EXTENDING:     Extending: Evaluate whether a swim club's typical junior program (three 60-minute squad sessions per week) meets the guideline for a 10-year-old, addressing both the activity and screen-time components.
MASTERING:     Mastering: Design and justify a week-long activity plan for a family with an infant, a teenager and a grandparent that meets each member's guideline using swimming and related aquatic activity, and predict which family member is most at risk of falling short and why.
Teacher prompts: after 5 min check level selection; half-time prompt early finishers up a level; final 5 min students capture evidence.
Portal companion output required. Differentiation note: Acquiring and Consolidating students should have Table 7.8 and today's I DO slides open for reference. Refining students work with textbook reference only, no slide access. Extending and Mastering students work from memory, checking against the textbook only to verify. Mastering task requires synthesising all four I DO slides — flag this to strong students as the 'whole lesson in one task'. Common gap to watch for at Acquiring: students confuse the 5-year-old (0–5 guideline: 3 hrs) with the 5–17 guideline (60 min) because '5' appears in both — clarify age-5 sits in the 0–5 band per Table 7.8's age brackets.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checks KK1 (adult PA guideline). Q2 checks KK1 applied to a scenario (5–17 screen-time guideline) — correct answer: screen time guideline (max 2 hrs/day), since 45 min x 4 days = 180 min/week which is under the 60 min/day expectation too, so a strong response can flag both; award full marks for identifying screen time and partial for PA-minutes-only. Q3 checks KK1 comparison across age bands — expected answer: toddlers have a 1-hour restraint-time cap, while older adults have no numerical cap, just an instruction to reduce and break up sitting. Expected response patterns: strong responses cite a specific figure; weak responses answer in generalities ('be less sedentary') without a number. Common misconception to watch for: students citing the 2-hour screen limit for BOTH toddlers and older adults — the 2-hour figure is specific to the 5–17 band. Reteach trigger: if over half the class misses Q2's screen-time answer, revisit the 5–17 sedentary guideline at the start of next lesson. Collection method: paper exit slips, handed in at the door. Time-to-mark estimate: ~8 minutes for a class of 25.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Recaps the single KK across all four age bands taught today. Suggested framing: 'You can now state what the Australian Government recommends for activity, strength and sedentary/screen time at every stage of life, from a swim-lesson toddler to a hydrotherapy client in their seventies.' Preview next lesson (7.6): 'Now that you know the target, next lesson looks at how many Australians actually meet it — the prevalence and trends data.' Aligned to VCE Physical Education Study Design 2025–2029, Unit 1 AOS 1, Topic 7.5.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EEE4"/>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DO NOW — complete on entry, individually and silently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Text 4"/>
          <p:cNvSpPr/>
          <p:nvPr/>
        </p:nvSpPr>
        <p:spPr>
          <a:xfrm>
            <a:off x="182880" y="777240"/>
            <a:ext cx="11878056" cy="365760"/>
          </a:xfrm>
          <a:prstGeom prst="rect">
            <a:avLst/>
          </a:prstGeom>
          <a:noFill/>
          <a:ln/>
        </p:spPr>
        <p:txBody>
          <a:bodyPr wrap="square" rtlCol="0" anchor="ctr"/>
          <a:lstStyle/>
          <a:p>
            <a:pPr marL="0" indent="0">
              <a:buNone/>
            </a:pPr>
            <a:r>
              <a:rPr lang="en-US" sz="1800" dirty="0">
                <a:solidFill>
                  <a:srgbClr val="1C1C1A"/>
                </a:solidFill>
                <a:latin typeface="Calibri" pitchFamily="34" charset="0"/>
                <a:ea typeface="Calibri" pitchFamily="34" charset="-122"/>
                <a:cs typeface="Calibri" pitchFamily="34" charset="-120"/>
              </a:rPr>
              <a:t>Define each sociocultural term from memory. No notes.</a:t>
            </a:r>
            <a:endParaRPr lang="en-US" sz="1800" dirty="0"/>
          </a:p>
        </p:txBody>
      </p:sp>
      <p:sp>
        <p:nvSpPr>
          <p:cNvPr id="7" name="Shape 5"/>
          <p:cNvSpPr/>
          <p:nvPr/>
        </p:nvSpPr>
        <p:spPr>
          <a:xfrm>
            <a:off x="365760" y="1417320"/>
            <a:ext cx="3806952" cy="2450592"/>
          </a:xfrm>
          <a:prstGeom prst="rect">
            <a:avLst/>
          </a:prstGeom>
          <a:solidFill>
            <a:srgbClr val="F4F6F8"/>
          </a:solidFill>
          <a:ln w="12700">
            <a:solidFill>
              <a:srgbClr val="8A3210"/>
            </a:solidFill>
            <a:prstDash val="solid"/>
          </a:ln>
        </p:spPr>
        <p:txBody>
          <a:bodyPr/>
          <a:lstStyle/>
          <a:p>
            <a:endParaRPr lang="en-US"/>
          </a:p>
        </p:txBody>
      </p:sp>
      <p:sp>
        <p:nvSpPr>
          <p:cNvPr id="8" name="Text 6"/>
          <p:cNvSpPr/>
          <p:nvPr/>
        </p:nvSpPr>
        <p:spPr>
          <a:xfrm>
            <a:off x="457200" y="1417320"/>
            <a:ext cx="3624072" cy="2450592"/>
          </a:xfrm>
          <a:prstGeom prst="rect">
            <a:avLst/>
          </a:prstGeom>
          <a:noFill/>
          <a:ln/>
        </p:spPr>
        <p:txBody>
          <a:bodyPr wrap="square" rtlCol="0" anchor="ctr"/>
          <a:lstStyle/>
          <a:p>
            <a:pPr marL="0" indent="0" algn="ctr">
              <a:buNone/>
            </a:pPr>
            <a:r>
              <a:rPr lang="en-US" sz="1800" b="1" dirty="0">
                <a:solidFill>
                  <a:srgbClr val="1C1C1A"/>
                </a:solidFill>
                <a:latin typeface="Calibri" pitchFamily="34" charset="0"/>
                <a:ea typeface="Calibri" pitchFamily="34" charset="-122"/>
                <a:cs typeface="Calibri" pitchFamily="34" charset="-120"/>
              </a:rPr>
              <a:t>Family</a:t>
            </a:r>
            <a:endParaRPr lang="en-US" sz="1800" dirty="0"/>
          </a:p>
        </p:txBody>
      </p:sp>
      <p:sp>
        <p:nvSpPr>
          <p:cNvPr id="9" name="Shape 7"/>
          <p:cNvSpPr/>
          <p:nvPr/>
        </p:nvSpPr>
        <p:spPr>
          <a:xfrm>
            <a:off x="4309872" y="1417320"/>
            <a:ext cx="3806952" cy="2450592"/>
          </a:xfrm>
          <a:prstGeom prst="rect">
            <a:avLst/>
          </a:prstGeom>
          <a:solidFill>
            <a:srgbClr val="F4F6F8"/>
          </a:solidFill>
          <a:ln w="12700">
            <a:solidFill>
              <a:srgbClr val="8A3210"/>
            </a:solidFill>
            <a:prstDash val="solid"/>
          </a:ln>
        </p:spPr>
        <p:txBody>
          <a:bodyPr/>
          <a:lstStyle/>
          <a:p>
            <a:endParaRPr lang="en-US"/>
          </a:p>
        </p:txBody>
      </p:sp>
      <p:sp>
        <p:nvSpPr>
          <p:cNvPr id="10" name="Text 8"/>
          <p:cNvSpPr/>
          <p:nvPr/>
        </p:nvSpPr>
        <p:spPr>
          <a:xfrm>
            <a:off x="4401312" y="1417320"/>
            <a:ext cx="3624072" cy="2450592"/>
          </a:xfrm>
          <a:prstGeom prst="rect">
            <a:avLst/>
          </a:prstGeom>
          <a:noFill/>
          <a:ln/>
        </p:spPr>
        <p:txBody>
          <a:bodyPr wrap="square" rtlCol="0" anchor="ctr"/>
          <a:lstStyle/>
          <a:p>
            <a:pPr marL="0" indent="0" algn="ctr">
              <a:buNone/>
            </a:pPr>
            <a:r>
              <a:rPr lang="en-US" sz="1800" b="1" dirty="0">
                <a:solidFill>
                  <a:srgbClr val="1C1C1A"/>
                </a:solidFill>
                <a:latin typeface="Calibri" pitchFamily="34" charset="0"/>
                <a:ea typeface="Calibri" pitchFamily="34" charset="-122"/>
                <a:cs typeface="Calibri" pitchFamily="34" charset="-120"/>
              </a:rPr>
              <a:t>Peers</a:t>
            </a:r>
            <a:endParaRPr lang="en-US" sz="1800" dirty="0"/>
          </a:p>
        </p:txBody>
      </p:sp>
      <p:sp>
        <p:nvSpPr>
          <p:cNvPr id="11" name="Shape 9"/>
          <p:cNvSpPr/>
          <p:nvPr/>
        </p:nvSpPr>
        <p:spPr>
          <a:xfrm>
            <a:off x="8253984" y="1417320"/>
            <a:ext cx="3806952" cy="2450592"/>
          </a:xfrm>
          <a:prstGeom prst="rect">
            <a:avLst/>
          </a:prstGeom>
          <a:solidFill>
            <a:srgbClr val="F4F6F8"/>
          </a:solidFill>
          <a:ln w="12700">
            <a:solidFill>
              <a:srgbClr val="8A3210"/>
            </a:solidFill>
            <a:prstDash val="solid"/>
          </a:ln>
        </p:spPr>
        <p:txBody>
          <a:bodyPr/>
          <a:lstStyle/>
          <a:p>
            <a:endParaRPr lang="en-US"/>
          </a:p>
        </p:txBody>
      </p:sp>
      <p:sp>
        <p:nvSpPr>
          <p:cNvPr id="12" name="Text 10"/>
          <p:cNvSpPr/>
          <p:nvPr/>
        </p:nvSpPr>
        <p:spPr>
          <a:xfrm>
            <a:off x="8345424" y="1417320"/>
            <a:ext cx="3624072" cy="2450592"/>
          </a:xfrm>
          <a:prstGeom prst="rect">
            <a:avLst/>
          </a:prstGeom>
          <a:noFill/>
          <a:ln/>
        </p:spPr>
        <p:txBody>
          <a:bodyPr wrap="square" rtlCol="0" anchor="ctr"/>
          <a:lstStyle/>
          <a:p>
            <a:pPr marL="0" indent="0" algn="ctr">
              <a:buNone/>
            </a:pPr>
            <a:r>
              <a:rPr lang="en-US" sz="1800" b="1" dirty="0">
                <a:solidFill>
                  <a:srgbClr val="1C1C1A"/>
                </a:solidFill>
                <a:latin typeface="Calibri" pitchFamily="34" charset="0"/>
                <a:ea typeface="Calibri" pitchFamily="34" charset="-122"/>
                <a:cs typeface="Calibri" pitchFamily="34" charset="-120"/>
              </a:rPr>
              <a:t>Socioeconomic status</a:t>
            </a:r>
            <a:endParaRPr lang="en-US" sz="1800" dirty="0"/>
          </a:p>
        </p:txBody>
      </p:sp>
      <p:sp>
        <p:nvSpPr>
          <p:cNvPr id="13" name="Shape 11"/>
          <p:cNvSpPr/>
          <p:nvPr/>
        </p:nvSpPr>
        <p:spPr>
          <a:xfrm>
            <a:off x="365760" y="4050792"/>
            <a:ext cx="3806952" cy="2450592"/>
          </a:xfrm>
          <a:prstGeom prst="rect">
            <a:avLst/>
          </a:prstGeom>
          <a:solidFill>
            <a:srgbClr val="F4F6F8"/>
          </a:solidFill>
          <a:ln w="12700">
            <a:solidFill>
              <a:srgbClr val="8A3210"/>
            </a:solidFill>
            <a:prstDash val="solid"/>
          </a:ln>
        </p:spPr>
        <p:txBody>
          <a:bodyPr/>
          <a:lstStyle/>
          <a:p>
            <a:endParaRPr lang="en-US"/>
          </a:p>
        </p:txBody>
      </p:sp>
      <p:sp>
        <p:nvSpPr>
          <p:cNvPr id="14" name="Text 12"/>
          <p:cNvSpPr/>
          <p:nvPr/>
        </p:nvSpPr>
        <p:spPr>
          <a:xfrm>
            <a:off x="457200" y="4050792"/>
            <a:ext cx="3624072" cy="2450592"/>
          </a:xfrm>
          <a:prstGeom prst="rect">
            <a:avLst/>
          </a:prstGeom>
          <a:noFill/>
          <a:ln/>
        </p:spPr>
        <p:txBody>
          <a:bodyPr wrap="square" rtlCol="0" anchor="ctr"/>
          <a:lstStyle/>
          <a:p>
            <a:pPr marL="0" indent="0" algn="ctr">
              <a:buNone/>
            </a:pPr>
            <a:r>
              <a:rPr lang="en-US" sz="1800" b="1" dirty="0">
                <a:solidFill>
                  <a:srgbClr val="1C1C1A"/>
                </a:solidFill>
                <a:latin typeface="Calibri" pitchFamily="34" charset="0"/>
                <a:ea typeface="Calibri" pitchFamily="34" charset="-122"/>
                <a:cs typeface="Calibri" pitchFamily="34" charset="-120"/>
              </a:rPr>
              <a:t>Community</a:t>
            </a:r>
            <a:endParaRPr lang="en-US" sz="1800" dirty="0"/>
          </a:p>
        </p:txBody>
      </p:sp>
      <p:sp>
        <p:nvSpPr>
          <p:cNvPr id="15" name="Shape 13"/>
          <p:cNvSpPr/>
          <p:nvPr/>
        </p:nvSpPr>
        <p:spPr>
          <a:xfrm>
            <a:off x="4309872" y="4050792"/>
            <a:ext cx="3806952" cy="2450592"/>
          </a:xfrm>
          <a:prstGeom prst="rect">
            <a:avLst/>
          </a:prstGeom>
          <a:solidFill>
            <a:srgbClr val="F4F6F8"/>
          </a:solidFill>
          <a:ln w="12700">
            <a:solidFill>
              <a:srgbClr val="8A3210"/>
            </a:solidFill>
            <a:prstDash val="solid"/>
          </a:ln>
        </p:spPr>
        <p:txBody>
          <a:bodyPr/>
          <a:lstStyle/>
          <a:p>
            <a:endParaRPr lang="en-US"/>
          </a:p>
        </p:txBody>
      </p:sp>
      <p:sp>
        <p:nvSpPr>
          <p:cNvPr id="16" name="Text 14"/>
          <p:cNvSpPr/>
          <p:nvPr/>
        </p:nvSpPr>
        <p:spPr>
          <a:xfrm>
            <a:off x="4401312" y="4050792"/>
            <a:ext cx="3624072" cy="2450592"/>
          </a:xfrm>
          <a:prstGeom prst="rect">
            <a:avLst/>
          </a:prstGeom>
          <a:noFill/>
          <a:ln/>
        </p:spPr>
        <p:txBody>
          <a:bodyPr wrap="square" rtlCol="0" anchor="ctr"/>
          <a:lstStyle/>
          <a:p>
            <a:pPr marL="0" indent="0" algn="ctr">
              <a:buNone/>
            </a:pPr>
            <a:r>
              <a:rPr lang="en-US" sz="1800" b="1" dirty="0">
                <a:solidFill>
                  <a:srgbClr val="1C1C1A"/>
                </a:solidFill>
                <a:latin typeface="Calibri" pitchFamily="34" charset="0"/>
                <a:ea typeface="Calibri" pitchFamily="34" charset="-122"/>
                <a:cs typeface="Calibri" pitchFamily="34" charset="-120"/>
              </a:rPr>
              <a:t>Cultural norms</a:t>
            </a:r>
            <a:endParaRPr lang="en-US" sz="1800" dirty="0"/>
          </a:p>
        </p:txBody>
      </p:sp>
      <p:sp>
        <p:nvSpPr>
          <p:cNvPr id="17" name="Shape 15"/>
          <p:cNvSpPr/>
          <p:nvPr/>
        </p:nvSpPr>
        <p:spPr>
          <a:xfrm>
            <a:off x="8253984" y="4050792"/>
            <a:ext cx="3806952" cy="2450592"/>
          </a:xfrm>
          <a:prstGeom prst="rect">
            <a:avLst/>
          </a:prstGeom>
          <a:solidFill>
            <a:srgbClr val="F4F6F8"/>
          </a:solidFill>
          <a:ln w="12700">
            <a:solidFill>
              <a:srgbClr val="8A3210"/>
            </a:solidFill>
            <a:prstDash val="solid"/>
          </a:ln>
        </p:spPr>
        <p:txBody>
          <a:bodyPr/>
          <a:lstStyle/>
          <a:p>
            <a:endParaRPr lang="en-US"/>
          </a:p>
        </p:txBody>
      </p:sp>
      <p:sp>
        <p:nvSpPr>
          <p:cNvPr id="18" name="Text 16"/>
          <p:cNvSpPr/>
          <p:nvPr/>
        </p:nvSpPr>
        <p:spPr>
          <a:xfrm>
            <a:off x="8345424" y="4050792"/>
            <a:ext cx="3624072" cy="2450592"/>
          </a:xfrm>
          <a:prstGeom prst="rect">
            <a:avLst/>
          </a:prstGeom>
          <a:noFill/>
          <a:ln/>
        </p:spPr>
        <p:txBody>
          <a:bodyPr wrap="square" rtlCol="0" anchor="ctr"/>
          <a:lstStyle/>
          <a:p>
            <a:pPr marL="0" indent="0" algn="ctr">
              <a:buNone/>
            </a:pPr>
            <a:r>
              <a:rPr lang="en-US" sz="1800" b="1" dirty="0">
                <a:solidFill>
                  <a:srgbClr val="1C1C1A"/>
                </a:solidFill>
                <a:latin typeface="Calibri" pitchFamily="34" charset="0"/>
                <a:ea typeface="Calibri" pitchFamily="34" charset="-122"/>
                <a:cs typeface="Calibri" pitchFamily="34" charset="-120"/>
              </a:rPr>
              <a:t>Gender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0F4C81"/>
          </a:solidFill>
          <a:ln w="12700">
            <a:solidFill>
              <a:srgbClr val="0F4C81"/>
            </a:solidFill>
            <a:prstDash val="solid"/>
          </a:ln>
        </p:spPr>
        <p:txBody>
          <a:bodyPr/>
          <a:lstStyle/>
          <a:p>
            <a:endParaRPr lang="en-US"/>
          </a:p>
        </p:txBody>
      </p:sp>
      <p:sp>
        <p:nvSpPr>
          <p:cNvPr id="3" name="Text 1"/>
          <p:cNvSpPr/>
          <p:nvPr/>
        </p:nvSpPr>
        <p:spPr>
          <a:xfrm>
            <a:off x="731520" y="2377440"/>
            <a:ext cx="10908792" cy="2011680"/>
          </a:xfrm>
          <a:prstGeom prst="rect">
            <a:avLst/>
          </a:prstGeom>
          <a:noFill/>
          <a:ln/>
        </p:spPr>
        <p:txBody>
          <a:bodyPr wrap="square" lIns="0" tIns="0" rIns="0" bIns="0" rtlCol="0" anchor="ctr"/>
          <a:lstStyle/>
          <a:p>
            <a:pPr marL="0" indent="0" algn="l">
              <a:buNone/>
            </a:pPr>
            <a:r>
              <a:rPr lang="en-US" sz="5200" b="1" dirty="0">
                <a:solidFill>
                  <a:srgbClr val="1C1C1A"/>
                </a:solidFill>
                <a:latin typeface="Calibri" pitchFamily="34" charset="0"/>
                <a:ea typeface="Calibri" pitchFamily="34" charset="-122"/>
                <a:cs typeface="Calibri" pitchFamily="34" charset="-120"/>
              </a:rPr>
              <a:t>Physical Activity &amp; Sedentary Behaviour Guidelines</a:t>
            </a:r>
            <a:endParaRPr lang="en-US" sz="5200" dirty="0"/>
          </a:p>
        </p:txBody>
      </p:sp>
      <p:sp>
        <p:nvSpPr>
          <p:cNvPr id="4" name="Text 2"/>
          <p:cNvSpPr/>
          <p:nvPr/>
        </p:nvSpPr>
        <p:spPr>
          <a:xfrm>
            <a:off x="731520" y="4663440"/>
            <a:ext cx="10908792" cy="365760"/>
          </a:xfrm>
          <a:prstGeom prst="rect">
            <a:avLst/>
          </a:prstGeom>
          <a:noFill/>
          <a:ln/>
        </p:spPr>
        <p:txBody>
          <a:bodyPr wrap="square" rtlCol="0" anchor="t"/>
          <a:lstStyle/>
          <a:p>
            <a:pPr marL="0" indent="0" algn="l">
              <a:buNone/>
            </a:pPr>
            <a:r>
              <a:rPr lang="en-US" sz="1800" dirty="0">
                <a:solidFill>
                  <a:srgbClr val="1C1C1A"/>
                </a:solidFill>
                <a:latin typeface="Calibri" pitchFamily="34" charset="0"/>
                <a:ea typeface="Calibri" pitchFamily="34" charset="-122"/>
                <a:cs typeface="Calibri" pitchFamily="34" charset="-120"/>
              </a:rPr>
              <a:t>Unit 2 AOS 1 — Activity Guidelines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LEARNING INTENTIONS &amp; SUCCESS CRITERIA</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182880" y="640080"/>
            <a:ext cx="5803697" cy="5760720"/>
          </a:xfrm>
          <a:prstGeom prst="rect">
            <a:avLst/>
          </a:prstGeom>
          <a:solidFill>
            <a:srgbClr val="D6E4F0"/>
          </a:solidFill>
          <a:ln w="12700">
            <a:solidFill>
              <a:srgbClr val="0A3A63">
                <a:alpha val="30000"/>
              </a:srgbClr>
            </a:solidFill>
            <a:prstDash val="solid"/>
          </a:ln>
        </p:spPr>
        <p:txBody>
          <a:bodyPr/>
          <a:lstStyle/>
          <a:p>
            <a:endParaRPr lang="en-US"/>
          </a:p>
        </p:txBody>
      </p:sp>
      <p:sp>
        <p:nvSpPr>
          <p:cNvPr id="7" name="Shape 5"/>
          <p:cNvSpPr/>
          <p:nvPr/>
        </p:nvSpPr>
        <p:spPr>
          <a:xfrm>
            <a:off x="274320" y="731520"/>
            <a:ext cx="1581912"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274320" y="731520"/>
            <a:ext cx="1581912"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KNOWLEDGE</a:t>
            </a:r>
            <a:endParaRPr lang="en-US" sz="1200" dirty="0"/>
          </a:p>
        </p:txBody>
      </p:sp>
      <p:sp>
        <p:nvSpPr>
          <p:cNvPr id="9" name="Text 7"/>
          <p:cNvSpPr/>
          <p:nvPr/>
        </p:nvSpPr>
        <p:spPr>
          <a:xfrm>
            <a:off x="365760"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physical activity and sedentary behaviour guidelines for different age population groups</a:t>
            </a:r>
            <a:endParaRPr lang="en-US" sz="1800" dirty="0"/>
          </a:p>
        </p:txBody>
      </p:sp>
      <p:sp>
        <p:nvSpPr>
          <p:cNvPr id="10" name="Shape 8"/>
          <p:cNvSpPr/>
          <p:nvPr/>
        </p:nvSpPr>
        <p:spPr>
          <a:xfrm>
            <a:off x="6260897" y="640080"/>
            <a:ext cx="5803697" cy="5760720"/>
          </a:xfrm>
          <a:prstGeom prst="rect">
            <a:avLst/>
          </a:prstGeom>
          <a:solidFill>
            <a:srgbClr val="FBEEE4"/>
          </a:solidFill>
          <a:ln w="12700">
            <a:solidFill>
              <a:srgbClr val="0A3A63">
                <a:alpha val="30000"/>
              </a:srgbClr>
            </a:solidFill>
            <a:prstDash val="solid"/>
          </a:ln>
        </p:spPr>
        <p:txBody>
          <a:bodyPr/>
          <a:lstStyle/>
          <a:p>
            <a:endParaRPr lang="en-US"/>
          </a:p>
        </p:txBody>
      </p:sp>
      <p:sp>
        <p:nvSpPr>
          <p:cNvPr id="11" name="Shape 9"/>
          <p:cNvSpPr/>
          <p:nvPr/>
        </p:nvSpPr>
        <p:spPr>
          <a:xfrm>
            <a:off x="6352337" y="731520"/>
            <a:ext cx="1280160" cy="292608"/>
          </a:xfrm>
          <a:prstGeom prst="rect">
            <a:avLst/>
          </a:prstGeom>
          <a:solidFill>
            <a:srgbClr val="0A3A63"/>
          </a:solidFill>
          <a:ln w="12700">
            <a:solidFill>
              <a:srgbClr val="0A3A63"/>
            </a:solidFill>
            <a:prstDash val="solid"/>
          </a:ln>
        </p:spPr>
        <p:txBody>
          <a:bodyPr/>
          <a:lstStyle/>
          <a:p>
            <a:endParaRPr lang="en-US"/>
          </a:p>
        </p:txBody>
      </p:sp>
      <p:sp>
        <p:nvSpPr>
          <p:cNvPr id="12" name="Text 10"/>
          <p:cNvSpPr/>
          <p:nvPr/>
        </p:nvSpPr>
        <p:spPr>
          <a:xfrm>
            <a:off x="6352337" y="731520"/>
            <a:ext cx="128016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SKILLS</a:t>
            </a:r>
            <a:endParaRPr lang="en-US" sz="1200" dirty="0"/>
          </a:p>
        </p:txBody>
      </p:sp>
      <p:sp>
        <p:nvSpPr>
          <p:cNvPr id="13" name="Text 11"/>
          <p:cNvSpPr/>
          <p:nvPr/>
        </p:nvSpPr>
        <p:spPr>
          <a:xfrm>
            <a:off x="6443777"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describe the physical activity and sedentary behaviour guidelines for different age population groups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I DO — Guidelines for Children Aged 0–5</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380744"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400"/>
              </a:spcAft>
              <a:buNone/>
            </a:pPr>
            <a:r>
              <a:rPr lang="en-US" sz="2400" b="1" dirty="0">
                <a:solidFill>
                  <a:srgbClr val="1C1C1A"/>
                </a:solidFill>
                <a:latin typeface="Calibri" pitchFamily="34" charset="0"/>
                <a:ea typeface="Calibri" pitchFamily="34" charset="-122"/>
                <a:cs typeface="Calibri" pitchFamily="34" charset="-120"/>
              </a:rPr>
              <a:t>Guidelines for children aged 0–5 set a minimum for active play, a cap on restraint time, and a screen-time limit.</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Infants (0–1yr): </a:t>
            </a:r>
            <a:r>
              <a:rPr lang="en-US" sz="1800" dirty="0">
                <a:solidFill>
                  <a:srgbClr val="1C1C1A"/>
                </a:solidFill>
                <a:latin typeface="Calibri" pitchFamily="34" charset="0"/>
                <a:ea typeface="Calibri" pitchFamily="34" charset="-122"/>
                <a:cs typeface="Calibri" pitchFamily="34" charset="-120"/>
              </a:rPr>
              <a:t>30+ min tummy time daily, plus supervised floor-based play; zero screen time.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Toddlers (1–5yr): </a:t>
            </a:r>
            <a:r>
              <a:rPr lang="en-US" sz="1800" dirty="0">
                <a:solidFill>
                  <a:srgbClr val="1C1C1A"/>
                </a:solidFill>
                <a:latin typeface="Calibri" pitchFamily="34" charset="0"/>
                <a:ea typeface="Calibri" pitchFamily="34" charset="-122"/>
                <a:cs typeface="Calibri" pitchFamily="34" charset="-120"/>
              </a:rPr>
              <a:t>At least 3 hrs active play daily (splash play, swim lessons, running), spread across the day.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Screen limit: </a:t>
            </a:r>
            <a:r>
              <a:rPr lang="en-US" sz="1800" dirty="0">
                <a:solidFill>
                  <a:srgbClr val="1C1C1A"/>
                </a:solidFill>
                <a:latin typeface="Calibri" pitchFamily="34" charset="0"/>
                <a:ea typeface="Calibri" pitchFamily="34" charset="-122"/>
                <a:cs typeface="Calibri" pitchFamily="34" charset="-120"/>
              </a:rPr>
              <a:t>No screen time under 2 yrs; max 1 hr/day for ages 2–5.</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Restraint limit: </a:t>
            </a:r>
            <a:r>
              <a:rPr lang="en-US" sz="1800" dirty="0">
                <a:solidFill>
                  <a:srgbClr val="1C1C1A"/>
                </a:solidFill>
                <a:latin typeface="Calibri" pitchFamily="34" charset="0"/>
                <a:ea typeface="Calibri" pitchFamily="34" charset="-122"/>
                <a:cs typeface="Calibri" pitchFamily="34" charset="-120"/>
              </a:rPr>
              <a:t>Not restrained in a pram, car seat or high chair for more than 1 hr at a time.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I DO — Guidelines for Children &amp; Young People 5–17</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380744"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400"/>
              </a:spcAft>
              <a:buNone/>
            </a:pPr>
            <a:r>
              <a:rPr lang="en-US" sz="2400" b="1" dirty="0">
                <a:solidFill>
                  <a:srgbClr val="1C1C1A"/>
                </a:solidFill>
                <a:latin typeface="Calibri" pitchFamily="34" charset="0"/>
                <a:ea typeface="Calibri" pitchFamily="34" charset="-122"/>
                <a:cs typeface="Calibri" pitchFamily="34" charset="-120"/>
              </a:rPr>
              <a:t>Ages 5–17 need daily moderate-to-vigorous activity, regular strength work, capped screens, and enough sleep.</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Daily activity: </a:t>
            </a:r>
            <a:r>
              <a:rPr lang="en-US" sz="1800" dirty="0">
                <a:solidFill>
                  <a:srgbClr val="1C1C1A"/>
                </a:solidFill>
                <a:latin typeface="Calibri" pitchFamily="34" charset="0"/>
                <a:ea typeface="Calibri" pitchFamily="34" charset="-122"/>
                <a:cs typeface="Calibri" pitchFamily="34" charset="-120"/>
              </a:rPr>
              <a:t>60+ min moderate-to-vigorous activity daily (e.g. swim squad training); can be split into sessions.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Strength/bone: </a:t>
            </a:r>
            <a:r>
              <a:rPr lang="en-US" sz="1800" dirty="0">
                <a:solidFill>
                  <a:srgbClr val="1C1C1A"/>
                </a:solidFill>
                <a:latin typeface="Calibri" pitchFamily="34" charset="0"/>
                <a:ea typeface="Calibri" pitchFamily="34" charset="-122"/>
                <a:cs typeface="Calibri" pitchFamily="34" charset="-120"/>
              </a:rPr>
              <a:t>Vigorous, muscle- and bone-strengthening activity (e.g. sprint sets, dive starts) on 3+ days/week.</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Screen time: </a:t>
            </a:r>
            <a:r>
              <a:rPr lang="en-US" sz="1800" dirty="0">
                <a:solidFill>
                  <a:srgbClr val="1C1C1A"/>
                </a:solidFill>
                <a:latin typeface="Calibri" pitchFamily="34" charset="0"/>
                <a:ea typeface="Calibri" pitchFamily="34" charset="-122"/>
                <a:cs typeface="Calibri" pitchFamily="34" charset="-120"/>
              </a:rPr>
              <a:t>No more than 2 hrs/day sedentary recreational screen time; doesn't include schoolwork.</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Sleep: </a:t>
            </a:r>
            <a:r>
              <a:rPr lang="en-US" sz="1800" dirty="0">
                <a:solidFill>
                  <a:srgbClr val="1C1C1A"/>
                </a:solidFill>
                <a:latin typeface="Calibri" pitchFamily="34" charset="0"/>
                <a:ea typeface="Calibri" pitchFamily="34" charset="-122"/>
                <a:cs typeface="Calibri" pitchFamily="34" charset="-120"/>
              </a:rPr>
              <a:t>9–11 hrs (ages 5–13) or 8–10 hrs (14–17) uninterrupted sleep; no screens 1 hr before bed.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LEARNING ACTIVITY — Audit a Junior Swimmer's Week (15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82296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400"/>
              </a:spcAft>
              <a:buNone/>
            </a:pPr>
            <a:r>
              <a:rPr lang="en-US" sz="2400" b="1" dirty="0">
                <a:solidFill>
                  <a:srgbClr val="1C1C1A"/>
                </a:solidFill>
                <a:latin typeface="Calibri" pitchFamily="34" charset="0"/>
                <a:ea typeface="Calibri" pitchFamily="34" charset="-122"/>
                <a:cs typeface="Calibri" pitchFamily="34" charset="-120"/>
              </a:rPr>
              <a:t>In pairs, use a junior swim squad member's weekly training and screen-time log (allocated: age 4, or age 12) to check it against their guideline and identify one gap.</a:t>
            </a:r>
            <a:endParaRPr lang="en-US" sz="2400" dirty="0"/>
          </a:p>
          <a:p>
            <a:pPr marL="0" indent="0">
              <a:spcAft>
                <a:spcPts val="2400"/>
              </a:spcAft>
              <a:buNone/>
            </a:pPr>
            <a:r>
              <a:rPr lang="en-US" sz="1800" i="1" dirty="0">
                <a:solidFill>
                  <a:srgbClr val="0A3A63"/>
                </a:solidFill>
                <a:latin typeface="Calibri" pitchFamily="34" charset="0"/>
                <a:ea typeface="Calibri" pitchFamily="34" charset="-122"/>
                <a:cs typeface="Calibri" pitchFamily="34" charset="-120"/>
              </a:rPr>
              <a:t>📖 Table 7.8, p. 263 (Guidelines summary) — Jacaranda Live It Up VCE Units 1 &amp; 2</a:t>
            </a:r>
            <a:endParaRPr lang="en-US" sz="2400" dirty="0"/>
          </a:p>
          <a:p>
            <a:pPr marL="0" indent="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Use these terms: </a:t>
            </a:r>
            <a:r>
              <a:rPr lang="en-US" sz="1800" dirty="0">
                <a:solidFill>
                  <a:srgbClr val="1C1C1A"/>
                </a:solidFill>
                <a:latin typeface="Calibri" pitchFamily="34" charset="0"/>
                <a:ea typeface="Calibri" pitchFamily="34" charset="-122"/>
                <a:cs typeface="Calibri" pitchFamily="34" charset="-120"/>
              </a:rPr>
              <a:t>moderate-to-vigorous, tummy time, sedentary recreational screen time, muscle- and bone-strengthening</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Structure: </a:t>
            </a:r>
            <a:r>
              <a:rPr lang="en-US" sz="1800" dirty="0">
                <a:solidFill>
                  <a:srgbClr val="1C1C1A"/>
                </a:solidFill>
                <a:latin typeface="Calibri" pitchFamily="34" charset="0"/>
                <a:ea typeface="Calibri" pitchFamily="34" charset="-122"/>
                <a:cs typeface="Calibri" pitchFamily="34" charset="-120"/>
              </a:rPr>
              <a:t>State the guideline for your age band → compare it to the log → name the specific gap.</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Check you have: </a:t>
            </a:r>
            <a:r>
              <a:rPr lang="en-US" sz="1800" dirty="0">
                <a:solidFill>
                  <a:srgbClr val="1C1C1A"/>
                </a:solidFill>
                <a:latin typeface="Calibri" pitchFamily="34" charset="0"/>
                <a:ea typeface="Calibri" pitchFamily="34" charset="-122"/>
                <a:cs typeface="Calibri" pitchFamily="34" charset="-120"/>
              </a:rPr>
              <a:t>Did you check PA minutes AND screen time AND (for age 12) the strength/bone component?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I DO — Guidelines for Adults 18–64</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380744"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400"/>
              </a:spcAft>
              <a:buNone/>
            </a:pPr>
            <a:r>
              <a:rPr lang="en-US" sz="2400" b="1" dirty="0">
                <a:solidFill>
                  <a:srgbClr val="1C1C1A"/>
                </a:solidFill>
                <a:latin typeface="Calibri" pitchFamily="34" charset="0"/>
                <a:ea typeface="Calibri" pitchFamily="34" charset="-122"/>
                <a:cs typeface="Calibri" pitchFamily="34" charset="-120"/>
              </a:rPr>
              <a:t>Adults aged 18–64 should be active most days, combining aerobic and strength activity while limiting sitting time.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Aerobic volume: </a:t>
            </a:r>
            <a:r>
              <a:rPr lang="en-US" sz="1800" dirty="0">
                <a:solidFill>
                  <a:srgbClr val="1C1C1A"/>
                </a:solidFill>
                <a:latin typeface="Calibri" pitchFamily="34" charset="0"/>
                <a:ea typeface="Calibri" pitchFamily="34" charset="-122"/>
                <a:cs typeface="Calibri" pitchFamily="34" charset="-120"/>
              </a:rPr>
              <a:t>2.5–5 hrs moderate (lap swimming) or 1.25–2.5 hrs vigorous activity (fast interval swim sets) weekly.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Strength: </a:t>
            </a:r>
            <a:r>
              <a:rPr lang="en-US" sz="1800" dirty="0">
                <a:solidFill>
                  <a:srgbClr val="1C1C1A"/>
                </a:solidFill>
                <a:latin typeface="Calibri" pitchFamily="34" charset="0"/>
                <a:ea typeface="Calibri" pitchFamily="34" charset="-122"/>
                <a:cs typeface="Calibri" pitchFamily="34" charset="-120"/>
              </a:rPr>
              <a:t>Muscle-strengthening activity on 2+ days/week, e.g. dryland gym sessions or resistance bands.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Sedentary time: </a:t>
            </a:r>
            <a:r>
              <a:rPr lang="en-US" sz="1800" dirty="0">
                <a:solidFill>
                  <a:srgbClr val="1C1C1A"/>
                </a:solidFill>
                <a:latin typeface="Calibri" pitchFamily="34" charset="0"/>
                <a:ea typeface="Calibri" pitchFamily="34" charset="-122"/>
                <a:cs typeface="Calibri" pitchFamily="34" charset="-120"/>
              </a:rPr>
              <a:t>Reduce and break up long sitting periods, e.g. a poolside walk during a lunch break.</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I DO — Guidelines for Older Adults 65+</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380744"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400"/>
              </a:spcAft>
              <a:buNone/>
            </a:pPr>
            <a:r>
              <a:rPr lang="en-US" sz="2400" b="1" dirty="0">
                <a:solidFill>
                  <a:srgbClr val="1C1C1A"/>
                </a:solidFill>
                <a:latin typeface="Calibri" pitchFamily="34" charset="0"/>
                <a:ea typeface="Calibri" pitchFamily="34" charset="-122"/>
                <a:cs typeface="Calibri" pitchFamily="34" charset="-120"/>
              </a:rPr>
              <a:t>Older adults aged 65+ should be active every day, building up gradually and incorporating strength work.</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Daily minimum: </a:t>
            </a:r>
            <a:r>
              <a:rPr lang="en-US" sz="1800" dirty="0">
                <a:solidFill>
                  <a:srgbClr val="1C1C1A"/>
                </a:solidFill>
                <a:latin typeface="Calibri" pitchFamily="34" charset="0"/>
                <a:ea typeface="Calibri" pitchFamily="34" charset="-122"/>
                <a:cs typeface="Calibri" pitchFamily="34" charset="-120"/>
              </a:rPr>
              <a:t>At least 30 min moderate activity most/all days, e.g. hydrotherapy or aqua aerobics.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Building up: </a:t>
            </a:r>
            <a:r>
              <a:rPr lang="en-US" sz="1800" dirty="0">
                <a:solidFill>
                  <a:srgbClr val="1C1C1A"/>
                </a:solidFill>
                <a:latin typeface="Calibri" pitchFamily="34" charset="0"/>
                <a:ea typeface="Calibri" pitchFamily="34" charset="-122"/>
                <a:cs typeface="Calibri" pitchFamily="34" charset="-120"/>
              </a:rPr>
              <a:t>Start with 10 min once or twice daily; after 2 weeks, build to 15 min twice daily.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Strength: </a:t>
            </a:r>
            <a:r>
              <a:rPr lang="en-US" sz="1800" dirty="0">
                <a:solidFill>
                  <a:srgbClr val="1C1C1A"/>
                </a:solidFill>
                <a:latin typeface="Calibri" pitchFamily="34" charset="0"/>
                <a:ea typeface="Calibri" pitchFamily="34" charset="-122"/>
                <a:cs typeface="Calibri" pitchFamily="34" charset="-120"/>
              </a:rPr>
              <a:t>Incorporate muscle-strengthening activity regularly, e.g. water-based resistance work.</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Sedentary time: </a:t>
            </a:r>
            <a:r>
              <a:rPr lang="en-US" sz="1800" dirty="0">
                <a:solidFill>
                  <a:srgbClr val="1C1C1A"/>
                </a:solidFill>
                <a:latin typeface="Calibri" pitchFamily="34" charset="0"/>
                <a:ea typeface="Calibri" pitchFamily="34" charset="-122"/>
                <a:cs typeface="Calibri" pitchFamily="34" charset="-120"/>
              </a:rPr>
              <a:t>Reduce sitting time and break it up as often as possible throughout the day.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LEARNING ACTIVITY — Design a Week for Two Pool-Goers (15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82296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400"/>
              </a:spcAft>
              <a:buNone/>
            </a:pPr>
            <a:r>
              <a:rPr lang="en-US" sz="2400" b="1" dirty="0">
                <a:solidFill>
                  <a:srgbClr val="1C1C1A"/>
                </a:solidFill>
                <a:latin typeface="Calibri" pitchFamily="34" charset="0"/>
                <a:ea typeface="Calibri" pitchFamily="34" charset="-122"/>
                <a:cs typeface="Calibri" pitchFamily="34" charset="-120"/>
              </a:rPr>
              <a:t>In small groups, design a 7-day activity plan for EITHER a 45-year-old masters swimmer OR a 70-year-old hydrotherapy client (allocated) that meets every component of their age guideline.</a:t>
            </a:r>
            <a:endParaRPr lang="en-US" sz="2400" dirty="0"/>
          </a:p>
          <a:p>
            <a:pPr marL="0" indent="0">
              <a:spcAft>
                <a:spcPts val="2400"/>
              </a:spcAft>
              <a:buNone/>
            </a:pPr>
            <a:r>
              <a:rPr lang="en-US" sz="1800" i="1" dirty="0">
                <a:solidFill>
                  <a:srgbClr val="0A3A63"/>
                </a:solidFill>
                <a:latin typeface="Calibri" pitchFamily="34" charset="0"/>
                <a:ea typeface="Calibri" pitchFamily="34" charset="-122"/>
                <a:cs typeface="Calibri" pitchFamily="34" charset="-120"/>
              </a:rPr>
              <a:t>📖 Table 7.8, p. 263 (Guidelines summary) — Jacaranda Live It Up VCE Units 1 &amp; 2</a:t>
            </a:r>
            <a:endParaRPr lang="en-US" sz="2400" dirty="0"/>
          </a:p>
          <a:p>
            <a:pPr marL="0" indent="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Worked start: </a:t>
            </a:r>
            <a:r>
              <a:rPr lang="en-US" sz="1800" dirty="0">
                <a:solidFill>
                  <a:srgbClr val="1C1C1A"/>
                </a:solidFill>
                <a:latin typeface="Calibri" pitchFamily="34" charset="0"/>
                <a:ea typeface="Calibri" pitchFamily="34" charset="-122"/>
                <a:cs typeface="Calibri" pitchFamily="34" charset="-120"/>
              </a:rPr>
              <a:t>Monday: 45 min lap swim (moderate) — counts toward weekly aerobic minutes; Tuesday: ...</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Check you have: </a:t>
            </a:r>
            <a:r>
              <a:rPr lang="en-US" sz="1800" dirty="0">
                <a:solidFill>
                  <a:srgbClr val="1C1C1A"/>
                </a:solidFill>
                <a:latin typeface="Calibri" pitchFamily="34" charset="0"/>
                <a:ea typeface="Calibri" pitchFamily="34" charset="-122"/>
                <a:cs typeface="Calibri" pitchFamily="34" charset="-120"/>
              </a:rPr>
              <a:t>Aerobic/PA target met? Strength 2+ days (or incorporated regularly)? Sitting broken up daily?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Start with: </a:t>
            </a:r>
            <a:r>
              <a:rPr lang="en-US" sz="1800" dirty="0">
                <a:solidFill>
                  <a:srgbClr val="1C1C1A"/>
                </a:solidFill>
                <a:latin typeface="Calibri" pitchFamily="34" charset="0"/>
                <a:ea typeface="Calibri" pitchFamily="34" charset="-122"/>
                <a:cs typeface="Calibri" pitchFamily="34" charset="-120"/>
              </a:rPr>
              <a:t>This plan meets the guideline because... / This plan does not yet meet the guideline because...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EXAM TIP — Answering 'Describe' questions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078992"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 TIP</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800"/>
              </a:spcAft>
              <a:buNone/>
            </a:pPr>
            <a:r>
              <a:rPr lang="en-US" sz="2400" b="1" dirty="0">
                <a:solidFill>
                  <a:srgbClr val="1C1C1A"/>
                </a:solidFill>
                <a:latin typeface="Calibri" pitchFamily="34" charset="0"/>
                <a:ea typeface="Calibri" pitchFamily="34" charset="-122"/>
                <a:cs typeface="Calibri" pitchFamily="34" charset="-120"/>
              </a:rPr>
              <a:t>Give a detailed, feature-by-feature account of what happens and when — never why. One key feature per mark.</a:t>
            </a:r>
            <a:endParaRPr lang="en-US" sz="2400" dirty="0"/>
          </a:p>
          <a:p>
            <a:pPr marL="0" indent="0">
              <a:spcAft>
                <a:spcPts val="800"/>
              </a:spcAft>
              <a:buNone/>
            </a:pPr>
            <a:r>
              <a:rPr lang="en-US" sz="1800" dirty="0">
                <a:solidFill>
                  <a:srgbClr val="5A1A5A"/>
                </a:solidFill>
                <a:latin typeface="Calibri" pitchFamily="34" charset="0"/>
                <a:ea typeface="Calibri" pitchFamily="34" charset="-122"/>
                <a:cs typeface="Calibri" pitchFamily="34" charset="-120"/>
              </a:rPr>
              <a:t>✗  Describe the sedentary guideline for a 70-year-old: They should sit less because it's healthier for the heart.</a:t>
            </a:r>
            <a:endParaRPr lang="en-US" sz="2400" dirty="0"/>
          </a:p>
          <a:p>
            <a:pPr marL="0" indent="0">
              <a:spcAft>
                <a:spcPts val="1800"/>
              </a:spcAft>
              <a:buNone/>
            </a:pPr>
            <a:r>
              <a:rPr lang="en-US" sz="1800" dirty="0">
                <a:solidFill>
                  <a:srgbClr val="15662F"/>
                </a:solidFill>
                <a:latin typeface="Calibri" pitchFamily="34" charset="0"/>
                <a:ea typeface="Calibri" pitchFamily="34" charset="-122"/>
                <a:cs typeface="Calibri" pitchFamily="34" charset="-120"/>
              </a:rPr>
              <a:t>✓  Older adults should reduce sitting time and break up long periods of sitting as often as possible throughout the day.</a:t>
            </a:r>
            <a:endParaRPr lang="en-US" sz="2400" dirty="0"/>
          </a:p>
          <a:p>
            <a:pPr marL="0" indent="0">
              <a:buNone/>
            </a:pPr>
            <a:r>
              <a:rPr lang="en-US" sz="1800" i="1" dirty="0">
                <a:solidFill>
                  <a:srgbClr val="1C1C1A"/>
                </a:solidFill>
                <a:latin typeface="Calibri" pitchFamily="34" charset="0"/>
                <a:ea typeface="Calibri" pitchFamily="34" charset="-122"/>
                <a:cs typeface="Calibri" pitchFamily="34" charset="-120"/>
              </a:rPr>
              <a:t>Why it matters: 2024 examiner report: 'describe' responses that explain WHY instead of stating WHAT/WHEN lose marks for off-task content.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EXAM PRACTICE — Guidelines for a Youth Swimmer (3 marks,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078992"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2400"/>
              </a:spcAft>
              <a:buNone/>
            </a:pPr>
            <a:r>
              <a:rPr lang="en-US" sz="2400" b="1" dirty="0">
                <a:solidFill>
                  <a:srgbClr val="1C1C1A"/>
                </a:solidFill>
                <a:latin typeface="Calibri" pitchFamily="34" charset="0"/>
                <a:ea typeface="Calibri" pitchFamily="34" charset="-122"/>
                <a:cs typeface="Calibri" pitchFamily="34" charset="-120"/>
              </a:rPr>
              <a:t>Describe the physical activity and sedentary behaviour guidelines a 12-year-old competitive swimmer should follow, according to the Australian guidelines. (3 marks)</a:t>
            </a:r>
            <a:endParaRPr lang="en-US" sz="2400" dirty="0"/>
          </a:p>
          <a:p>
            <a:pPr marL="0" indent="0">
              <a:spcAft>
                <a:spcPts val="1200"/>
              </a:spcAft>
              <a:buNone/>
            </a:pPr>
            <a:r>
              <a:rPr lang="en-US" sz="1800" b="1" dirty="0">
                <a:solidFill>
                  <a:srgbClr val="0A3A63"/>
                </a:solidFill>
                <a:latin typeface="Calibri" pitchFamily="34" charset="0"/>
                <a:ea typeface="Calibri" pitchFamily="34" charset="-122"/>
                <a:cs typeface="Calibri" pitchFamily="34" charset="-120"/>
              </a:rPr>
              <a:t>HOW TO APPROACH</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Identify the correct age band (5–17) before answering.</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State one feature per mark: PA minutes, strength/bone frequency, screen-time limit.</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Do not explain WHY the guidelines exist — that answers a different command term.</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EXAM PRACTICE — Modelled Answer (3 marks)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1783080"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1783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MODELLED ANSWER</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0" indent="0">
              <a:spcAft>
                <a:spcPts val="1800"/>
              </a:spcAft>
              <a:buNone/>
            </a:pPr>
            <a:r>
              <a:rPr lang="en-US" sz="1800" dirty="0">
                <a:solidFill>
                  <a:srgbClr val="1C1C1A"/>
                </a:solidFill>
                <a:latin typeface="Calibri" pitchFamily="34" charset="0"/>
                <a:ea typeface="Calibri" pitchFamily="34" charset="-122"/>
                <a:cs typeface="Calibri" pitchFamily="34" charset="-120"/>
              </a:rPr>
              <a:t>A 12-year-old swimmer should do 60+ minutes of moderate-to-vigorous activity daily, such as swim training. They should also do vigorous, muscle- and bone-strengthening activity, like sprint sets, on 3+ days a week. Screen time should be under 2 hours a day, excluding schoolwork.</a:t>
            </a:r>
            <a:endParaRPr lang="en-US" sz="1800" dirty="0"/>
          </a:p>
          <a:p>
            <a:pPr marL="0" indent="0">
              <a:spcAft>
                <a:spcPts val="1200"/>
              </a:spcAft>
              <a:buNone/>
            </a:pPr>
            <a:r>
              <a:rPr lang="en-US" sz="1800" b="1" dirty="0">
                <a:solidFill>
                  <a:srgbClr val="0A3A63"/>
                </a:solidFill>
                <a:latin typeface="Calibri" pitchFamily="34" charset="0"/>
                <a:ea typeface="Calibri" pitchFamily="34" charset="-122"/>
                <a:cs typeface="Calibri" pitchFamily="34" charset="-120"/>
              </a:rPr>
              <a:t>MARKS AWARDED FOR</a:t>
            </a:r>
            <a:endParaRPr lang="en-US" sz="1800" dirty="0"/>
          </a:p>
          <a:p>
            <a:pPr marL="0" indent="0">
              <a:spcAft>
                <a:spcPts val="600"/>
              </a:spcAft>
              <a:buNone/>
            </a:pPr>
            <a:r>
              <a:rPr lang="en-US" sz="1800" dirty="0">
                <a:solidFill>
                  <a:srgbClr val="15662F"/>
                </a:solidFill>
                <a:latin typeface="Calibri" pitchFamily="34" charset="0"/>
                <a:ea typeface="Calibri" pitchFamily="34" charset="-122"/>
                <a:cs typeface="Calibri" pitchFamily="34" charset="-120"/>
              </a:rPr>
              <a:t>✓  60+ min moderate-to-vigorous activity daily</a:t>
            </a:r>
            <a:endParaRPr lang="en-US" sz="1800" dirty="0"/>
          </a:p>
          <a:p>
            <a:pPr marL="0" indent="0">
              <a:spcAft>
                <a:spcPts val="600"/>
              </a:spcAft>
              <a:buNone/>
            </a:pPr>
            <a:r>
              <a:rPr lang="en-US" sz="1800" dirty="0">
                <a:solidFill>
                  <a:srgbClr val="15662F"/>
                </a:solidFill>
                <a:latin typeface="Calibri" pitchFamily="34" charset="0"/>
                <a:ea typeface="Calibri" pitchFamily="34" charset="-122"/>
                <a:cs typeface="Calibri" pitchFamily="34" charset="-120"/>
              </a:rPr>
              <a:t>✓  Vigorous/muscle- and bone-strengthening activity 3+ days/week</a:t>
            </a:r>
            <a:endParaRPr lang="en-US" sz="1800" dirty="0"/>
          </a:p>
          <a:p>
            <a:pPr marL="0" indent="0">
              <a:spcAft>
                <a:spcPts val="600"/>
              </a:spcAft>
              <a:buNone/>
            </a:pPr>
            <a:r>
              <a:rPr lang="en-US" sz="1800" dirty="0">
                <a:solidFill>
                  <a:srgbClr val="15662F"/>
                </a:solidFill>
                <a:latin typeface="Calibri" pitchFamily="34" charset="0"/>
                <a:ea typeface="Calibri" pitchFamily="34" charset="-122"/>
                <a:cs typeface="Calibri" pitchFamily="34" charset="-120"/>
              </a:rPr>
              <a:t>✓  Max 2 hrs/day recreational screen time (schoolwork excluded)</a:t>
            </a:r>
            <a:endParaRPr lang="en-US" sz="1800" dirty="0"/>
          </a:p>
          <a:p>
            <a:pPr marL="0" indent="0">
              <a:buNone/>
            </a:pPr>
            <a:r>
              <a:rPr lang="en-US" sz="1800" i="1" dirty="0">
                <a:solidFill>
                  <a:srgbClr val="5A1A5A"/>
                </a:solidFill>
                <a:latin typeface="Calibri" pitchFamily="34" charset="0"/>
                <a:ea typeface="Calibri" pitchFamily="34" charset="-122"/>
                <a:cs typeface="Calibri" pitchFamily="34" charset="-120"/>
              </a:rPr>
              <a:t>Common error: Students often state only the PA minutes and forget the screen-time or strength component, losing marks for an incomplete 3-mark response.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YOU DO — Lifespan Guidelines Continuum — Swimming (20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1097280"/>
            <a:ext cx="10725912" cy="502920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Text 5"/>
          <p:cNvSpPr/>
          <p:nvPr/>
        </p:nvSpPr>
        <p:spPr>
          <a:xfrm>
            <a:off x="896112" y="1280160"/>
            <a:ext cx="10396728" cy="4663440"/>
          </a:xfrm>
          <a:prstGeom prst="rect">
            <a:avLst/>
          </a:prstGeom>
          <a:noFill/>
          <a:ln/>
        </p:spPr>
        <p:txBody>
          <a:bodyPr wrap="square" rtlCol="0" anchor="ctr"/>
          <a:lstStyle/>
          <a:p>
            <a:pPr marL="0" indent="0" algn="ctr">
              <a:spcAft>
                <a:spcPts val="1800"/>
              </a:spcAft>
              <a:buNone/>
            </a:pPr>
            <a:r>
              <a:rPr lang="en-US" sz="2800" b="1" dirty="0">
                <a:solidFill>
                  <a:srgbClr val="1C1C1A"/>
                </a:solidFill>
                <a:latin typeface="Calibri" pitchFamily="34" charset="0"/>
                <a:ea typeface="Calibri" pitchFamily="34" charset="-122"/>
                <a:cs typeface="Calibri" pitchFamily="34" charset="-120"/>
              </a:rPr>
              <a:t>Open the Challenge Continuum task on the portal</a:t>
            </a:r>
            <a:endParaRPr lang="en-US" sz="2800" dirty="0"/>
          </a:p>
          <a:p>
            <a:pPr marL="0" indent="0" algn="ctr">
              <a:spcAft>
                <a:spcPts val="1800"/>
              </a:spcAft>
              <a:buNone/>
            </a:pPr>
            <a:r>
              <a:rPr lang="en-US" sz="2200" dirty="0">
                <a:solidFill>
                  <a:srgbClr val="0A3A63"/>
                </a:solidFill>
                <a:latin typeface="Calibri" pitchFamily="34" charset="0"/>
                <a:ea typeface="Calibri" pitchFamily="34" charset="-122"/>
                <a:cs typeface="Calibri" pitchFamily="34" charset="-120"/>
              </a:rPr>
              <a:t>Lifespan Guidelines Continuum — Swimming</a:t>
            </a:r>
            <a:endParaRPr lang="en-US" sz="2800" dirty="0"/>
          </a:p>
          <a:p>
            <a:pPr marL="0" indent="0" algn="ctr">
              <a:buNone/>
            </a:pPr>
            <a:r>
              <a:rPr lang="en-US" sz="2000" i="1" dirty="0">
                <a:solidFill>
                  <a:srgbClr val="1C1C1A"/>
                </a:solidFill>
                <a:latin typeface="Calibri" pitchFamily="34" charset="0"/>
                <a:ea typeface="Calibri" pitchFamily="34" charset="-122"/>
                <a:cs typeface="Calibri" pitchFamily="34" charset="-120"/>
              </a:rPr>
              <a:t>20 minutes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txBody>
          <a:bodyPr/>
          <a:lstStyle/>
          <a:p>
            <a:endParaRPr lang="en-US"/>
          </a:p>
        </p:txBody>
      </p:sp>
      <p:sp>
        <p:nvSpPr>
          <p:cNvPr id="3" name="Shape 1"/>
          <p:cNvSpPr/>
          <p:nvPr/>
        </p:nvSpPr>
        <p:spPr>
          <a:xfrm>
            <a:off x="0" y="0"/>
            <a:ext cx="54864" cy="512064"/>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164592" y="0"/>
            <a:ext cx="11978640" cy="512064"/>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 EXIT CARD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txBody>
          <a:bodyPr/>
          <a:lstStyle/>
          <a:p>
            <a:endParaRPr lang="en-US"/>
          </a:p>
        </p:txBody>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txBody>
          <a:bodyPr/>
          <a:lstStyle/>
          <a:p>
            <a:endParaRPr lang="en-US"/>
          </a:p>
        </p:txBody>
      </p:sp>
      <p:sp>
        <p:nvSpPr>
          <p:cNvPr id="8" name="Text 6"/>
          <p:cNvSpPr/>
          <p:nvPr/>
        </p:nvSpPr>
        <p:spPr>
          <a:xfrm>
            <a:off x="896112" y="1078992"/>
            <a:ext cx="82296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342900" indent="-342900">
              <a:spcAft>
                <a:spcPts val="1800"/>
              </a:spcAft>
              <a:buSzPct val="100000"/>
              <a:buFont typeface="+mj-lt"/>
              <a:buAutoNum type="arabicPeriod"/>
            </a:pPr>
            <a:r>
              <a:rPr lang="en-US" sz="2400" dirty="0">
                <a:solidFill>
                  <a:srgbClr val="1C1C1A"/>
                </a:solidFill>
                <a:latin typeface="Calibri" pitchFamily="34" charset="0"/>
                <a:ea typeface="Calibri" pitchFamily="34" charset="-122"/>
                <a:cs typeface="Calibri" pitchFamily="34" charset="-120"/>
              </a:rPr>
              <a:t>State the muscle-strengthening frequency required for adults aged 18–64.</a:t>
            </a:r>
            <a:endParaRPr lang="en-US" sz="2400" dirty="0"/>
          </a:p>
          <a:p>
            <a:pPr marL="342900" indent="-342900">
              <a:spcAft>
                <a:spcPts val="1800"/>
              </a:spcAft>
              <a:buSzPct val="100000"/>
              <a:buFont typeface="+mj-lt"/>
              <a:buAutoNum type="arabicPeriod"/>
            </a:pPr>
            <a:r>
              <a:rPr lang="en-US" sz="2400" dirty="0">
                <a:solidFill>
                  <a:srgbClr val="1C1C1A"/>
                </a:solidFill>
                <a:latin typeface="Calibri" pitchFamily="34" charset="0"/>
                <a:ea typeface="Calibri" pitchFamily="34" charset="-122"/>
                <a:cs typeface="Calibri" pitchFamily="34" charset="-120"/>
              </a:rPr>
              <a:t>A 16-year-old swimmer trains 45 min, 4 days/week, and has 3 hrs of screen time daily. Identify which guideline they are not meeting.</a:t>
            </a:r>
            <a:endParaRPr lang="en-US" sz="2400" dirty="0"/>
          </a:p>
          <a:p>
            <a:pPr marL="342900" indent="-342900">
              <a:spcAft>
                <a:spcPts val="1800"/>
              </a:spcAft>
              <a:buSzPct val="100000"/>
              <a:buFont typeface="+mj-lt"/>
              <a:buAutoNum type="arabicPeriod"/>
            </a:pPr>
            <a:r>
              <a:rPr lang="en-US" sz="2400" dirty="0">
                <a:solidFill>
                  <a:srgbClr val="1C1C1A"/>
                </a:solidFill>
                <a:latin typeface="Calibri" pitchFamily="34" charset="0"/>
                <a:ea typeface="Calibri" pitchFamily="34" charset="-122"/>
                <a:cs typeface="Calibri" pitchFamily="34" charset="-120"/>
              </a:rPr>
              <a:t>Describe one difference between the sedentary behaviour guideline for a toddler and for an older adult.</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81"/>
        </a:solidFill>
        <a:effectLst/>
      </p:bgPr>
    </p:bg>
    <p:spTree>
      <p:nvGrpSpPr>
        <p:cNvPr id="1" name=""/>
        <p:cNvGrpSpPr/>
        <p:nvPr/>
      </p:nvGrpSpPr>
      <p:grpSpPr>
        <a:xfrm>
          <a:off x="0" y="0"/>
          <a:ext cx="0" cy="0"/>
          <a:chOff x="0" y="0"/>
          <a:chExt cx="0" cy="0"/>
        </a:xfrm>
      </p:grpSpPr>
      <p:sp>
        <p:nvSpPr>
          <p:cNvPr id="2" name="Shape 0"/>
          <p:cNvSpPr/>
          <p:nvPr/>
        </p:nvSpPr>
        <p:spPr>
          <a:xfrm>
            <a:off x="731520" y="548640"/>
            <a:ext cx="10725912" cy="5760720"/>
          </a:xfrm>
          <a:prstGeom prst="rect">
            <a:avLst/>
          </a:prstGeom>
          <a:solidFill>
            <a:srgbClr val="FFFFFF"/>
          </a:solidFill>
          <a:ln w="12700">
            <a:solidFill>
              <a:srgbClr val="FFFFFF"/>
            </a:solidFill>
            <a:prstDash val="solid"/>
          </a:ln>
          <a:effectLst>
            <a:outerShdw blurRad="76200" dist="38100" dir="8100000" algn="bl" rotWithShape="0">
              <a:srgbClr val="000000">
                <a:alpha val="12000"/>
              </a:srgbClr>
            </a:outerShdw>
          </a:effectLst>
        </p:spPr>
        <p:txBody>
          <a:bodyPr/>
          <a:lstStyle/>
          <a:p>
            <a:endParaRPr lang="en-US"/>
          </a:p>
        </p:txBody>
      </p:sp>
      <p:sp>
        <p:nvSpPr>
          <p:cNvPr id="3" name="Shape 1"/>
          <p:cNvSpPr/>
          <p:nvPr/>
        </p:nvSpPr>
        <p:spPr>
          <a:xfrm>
            <a:off x="896112" y="768096"/>
            <a:ext cx="2185416" cy="292608"/>
          </a:xfrm>
          <a:prstGeom prst="rect">
            <a:avLst/>
          </a:prstGeom>
          <a:solidFill>
            <a:srgbClr val="0A3A63"/>
          </a:solidFill>
          <a:ln w="12700">
            <a:solidFill>
              <a:srgbClr val="0A3A63"/>
            </a:solidFill>
            <a:prstDash val="solid"/>
          </a:ln>
        </p:spPr>
        <p:txBody>
          <a:bodyPr/>
          <a:lstStyle/>
          <a:p>
            <a:endParaRPr lang="en-US"/>
          </a:p>
        </p:txBody>
      </p:sp>
      <p:sp>
        <p:nvSpPr>
          <p:cNvPr id="4" name="Text 2"/>
          <p:cNvSpPr/>
          <p:nvPr/>
        </p:nvSpPr>
        <p:spPr>
          <a:xfrm>
            <a:off x="896112" y="768096"/>
            <a:ext cx="2185416"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 SHOULD NOW KNOW</a:t>
            </a:r>
            <a:endParaRPr lang="en-US" sz="1200" dirty="0"/>
          </a:p>
        </p:txBody>
      </p:sp>
      <p:sp>
        <p:nvSpPr>
          <p:cNvPr id="5" name="Text 3"/>
          <p:cNvSpPr/>
          <p:nvPr/>
        </p:nvSpPr>
        <p:spPr>
          <a:xfrm>
            <a:off x="896112" y="1207008"/>
            <a:ext cx="10396728" cy="4937760"/>
          </a:xfrm>
          <a:prstGeom prst="rect">
            <a:avLst/>
          </a:prstGeom>
          <a:noFill/>
          <a:ln/>
        </p:spPr>
        <p:txBody>
          <a:bodyPr wrap="square" rtlCol="0" anchor="t"/>
          <a:lstStyle/>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physical activity and sedentary behaviour guidelines for different age population groups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3730</Words>
  <Application>Microsoft Macintosh PowerPoint</Application>
  <PresentationFormat>Widescreen</PresentationFormat>
  <Paragraphs>120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Activity &amp; Sedentary Behaviour Guidelines</dc:title>
  <dc:subject>PptxGenJS Presentation</dc:subject>
  <dc:creator>PptxGenJS</dc:creator>
  <cp:lastModifiedBy>Matt Harvey</cp:lastModifiedBy>
  <cp:revision>2</cp:revision>
  <dcterms:created xsi:type="dcterms:W3CDTF">2026-07-14T01:08:49Z</dcterms:created>
  <dcterms:modified xsi:type="dcterms:W3CDTF">2026-07-14T01:09:41Z</dcterms:modified>
</cp:coreProperties>
</file>