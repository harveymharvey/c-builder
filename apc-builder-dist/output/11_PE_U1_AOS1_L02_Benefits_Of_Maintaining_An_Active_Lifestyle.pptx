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Any three from 7.2 categories — play, games, sport, transportation, exercise, chores, recreation. 2) Accept any of: bone/muscle strength, immune function, disease risk reduction, mental, social, emotional, spiritual benefit. 3) Accept mood-related answers — reduced stress, improved confidence, sense of achievement. 4) True — regular activity improves concentration and information processing (link to today's mental benefits content). Cold-call Q4 first and ask for justification before revealing the answer — primes today's mental benefits I DO. Do not correct Q2/Q3 in detail yet; today's lesson will formalise these into the five benefit dimensions.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KK/KS drawn verbatim from Study Design 2025–2029 and Jacaranda 7.3. The KS is one continuous VCAA sentence split across two list items only because it exceeds the 110-char field cap — wording is unaltered, not paraphrased. Plain-English: 'today you'll learn that being active helps more than just your body — it helps your mind, your emotions, your relationships and your sense of purpose.' Netball preview: 'By the end of the lesson you'll be able to explain why a netball player benefits in five different ways from the same training session.' Misconception to flag: students often think 'benefits of activity' means only physical fitness — explicitly name all five dimensions up front.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Chunking strategy: Thematic — group all physical benefits under 'what does regular training do to the body itself?'. HITS: Explicit Teaching. 5Ps: Pedagogical Practice. Netball anchor: 'A netball player who trains twice a week and plays Saturdays is building bone density in her landing leg, improving her cardiorespiratory system for four-quarter matches, and lowering her long-term disease risk — all from the same sessions.' Misconception: students often reduce 'physical benefit' to weight loss only — explicitly list the other four (energy, bones/muscles, immunity/heart, disease risk). Cold-call: 'Which of these four benefits would matter most to a player recovering from a minor illness?' (immunity).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Chunking strategy: Cognitive Bookends — open with 'why do some players seem to think faster under pressure?', close with 'because regular activity trains the brain, not just the body.' HITS: Explicit Teaching, Multiple Exposures. 5Ps: Pedagogical Practice. Netball anchor: 'A netball player who trains regularly processes a fast centre-pass and decides where to move more quickly than an inactive player — that's the concentration benefit in action.' Misconception: students conflate 'mental' with 'emotional' benefits — flag explicitly that mental health is about thinking/cognition, emotional health (next slide) is about feelings. Cold-call: 'Which hormone does exercise reduce, and what does it do to the body when stress is high?' (cortisol).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Chunking strategy: Thematic — group under 'how does sport teach you to handle your feelings?'. HITS: Explicit Teaching, Worked Examples. 5Ps: Pedagogical Practice. Netball anchor: 'A goal attack who misses a crucial shot in the final quarter has to manage that disappointment and reset for the next centre pass — that's emotional resilience being built in real time.' Misconception: students think 'emotional benefit' just means 'feeling happy' — clarify it includes learning to manage negative emotions appropriately, not just generating positive ones. Cold-call: 'Name the three hormones released during exercise that help regulate mood.' (endorphins, dopamine, norepinephrine).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Chunking strategy: Progressive Disclosure — introduce 'new people' first, then build to trust/relationships, then communication, then the isolation-reduction payoff, so students see cause building to effect. HITS: Explicit Teaching. 5Ps: Pedagogical Practice, Participation. Netball anchor: 'A player who moves to a new city and joins a local netball club immediately has a ready-made social network — teammates she trains and competes with weekly.' Misconception: students think social benefit only applies to naturally social people — clarify it's a structural benefit of the activity itself, not personality-dependent. Cold-call: 'Which social benefit would matter most to someone who has just moved to a new area?' (reduced isolation / new people).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Chunking strategy: Thematic — group under 'what does activity give you beyond the physical and social?'. HITS: Explicit Teaching. 5Ps: Pedagogical Practice, Purposeful Technology (link to Fig 7.10/7.11 if displaying). 5Ps: Purpose. Netball anchor: 'A player who has played for the same club for years often describes it as part of her identity — that sense of belonging and purpose is the spiritual benefit, distinct from the social one.' Misconception: students conflate 'spiritual' with religious belief — clarify per the textbook definition (7.3.6): ideas, values, ethics, sense of belonging and purpose, not necessarily religion. Handle the First Nations content respectfully — frame as a specific, real example of spiritual connection to Country, not a generic add-on. Cold-call: 'How is spiritual benefit different from social benefit?' (belonging/purpose/identity vs. relationships with others).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HITS: Worked Examples, Collaborative Learning. 5Ps: Play (movement-linked reflection), Participation (every student completes all five rows). This is the single comprehensive practice task for the lesson's one KK item — deliberately not five separate activities, matching the KS wording ('reflect on and record information related to the physical, social, mental, emotional and spiritual benefits'). If a student doesn't play netball, they may substitute their own sport but must still address all five dimensions. Common error: students write a generic statement ('exercise is good for you') instead of a specific personal experience — circulate and prompt with 'what actually happened in that session?' Cold-call 2–3 students to share one row each before moving to YOU DO, prioritising dimensions students find hardest to articulate (usually spiritual and mental).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Assumption flagged: this lesson's true position in the per-AOS command-term slot table (§9.4) wasn't available, so 'Explain' was chosen as the highest-frequency VCAA term and the best content fit — confirm against the actual Lesson Sequence Master and adjust the slot if needed. Source: ACHPER and VCAA exam reports consistently note that 'Explain' responses lose marks for naming a benefit without describing the mechanism. This is a 'We Do' moment (4–5 min): model the weak answer first, then build the strong answer with the class, narrating each addition (mechanism, then link to performance).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(question): 5 minutes individual attempt, silent. Circulate for students who list a benefit with no mechanism — prompt with 'what specifically happens because of that?'. Slide 2 (model): reveal in stages — dimension named, then mechanism, then link to the player's situation — to show the mark-earning structure explicitly. Model deliberately uses only 2 sentences at 3-mark student standard, not an exhaustive answer. Source: pattern consistent with ACHPER trial exam short-answer questions on benefits of activity.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(question): 5 minutes individual attempt, silent. Circulate for students who list a benefit with no mechanism — prompt with 'what specifically happens because of that?'. Slide 2 (model): reveal in stages — dimension named, then mechanism, then link to the player's situation — to show the mark-earning structure explicitly. Model deliberately uses only 2 sentences at 3-mark student standard, not an exhaustive answer. Source: pattern consistent with ACHPER trial exam short-answer questions on benefits of activity.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Continuum task: Netball Benefits Continuum
ACQUIRING:     Acquiring: Identify ONE benefit of regular netball participation from each of the five dimensions (physical, mental, emotional, social, spiritual). Use the textbook headings to help.
CONSOLIDATING: Consolidating: Describe ONE benefit from each of the five dimensions, stating what happens to the netball player's body or mind for each.
REFINING:      Refining: Explain how netball participation produces a benefit in THREE of the five dimensions, describing the mechanism (e.g. hormone, relationship, physical adaptation) for each.
EXTENDING:     Extending: Discuss how a netball player's benefits might differ across the physical, mental, emotional, social and spiritual dimensions if she plays for a school team versus a community club.
MASTERING:     Mastering: A netball player is considering quitting the sport due to a minor injury. Predict which dimensions of benefit she would lose access to, and justify which loss would most affect her overall wellbeing.
Teacher prompts: after 5 min check level selection; half-time prompt early finishers up a level; final 5 min students capture evidence.
Portal companion output required. Differentiation note: Acquiring/Consolidating students keep the textbook and the Reflection Log from the LEARNING ACTIVITY open as reference. Refining students work with textbook access only, no completed log. Extending/Mastering students work from memory, verifying afterward. Mastering prompt requires weighing benefit dimensions against each other — there's no single correct answer, mark on quality of justification. If a student doesn't play netball, they may substitute their own sport but must still use the five named dimensions correctly. Monitor Acquiring students closely — the most common gap is confusing mental and emotional benefits.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Physical, social, mental, emotional, spiritual. 2) Social — joining a club builds relationships and reduces isolation, directly addressing loneliness. 3) Accept any of: reduced cortisol/stress, improved concentration, improved information processing, increased self-confidence — must include the mechanism, not just the label, to count as fully correct. Collect exit cards or use fist-to-five for self-rated confidence on naming all five dimensions. Reteach trigger: if more than 30% cannot name all five dimensions unprompted, run a quick retrieval drill at the start of 7.4 before introducing sociocultural enablers/barriers.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Auto-pulls KK from the LIS slide. Verbal prompt: 'Turn to your partner — name one benefit of regular activity that ISN'T physical fitness, and explain how it happens. 60 seconds.' Preview: next lesson (7.4) shifts from the benefits of being active to the sociocultural enablers and barriers that determine whether someone can access those benefits in the first place — family, peers, SES, gender, community and cultural norms. The five-dimension benefits framework from today underpins why those barriers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8A3210"/>
          </a:solidFill>
          <a:ln w="12700">
            <a:solidFill>
              <a:srgbClr val="8A32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2064"/>
          </a:xfrm>
          <a:prstGeom prst="rect">
            <a:avLst/>
          </a:prstGeom>
          <a:solidFill>
            <a:srgbClr val="0A3A63"/>
          </a:solidFill>
          <a:ln w="12700">
            <a:solidFill>
              <a:srgbClr val="0A3A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1197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DO NOW — complete on entry, individually and silently (5 min)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512064"/>
            <a:ext cx="54864" cy="6345936"/>
          </a:xfrm>
          <a:prstGeom prst="rect">
            <a:avLst/>
          </a:prstGeom>
          <a:solidFill>
            <a:srgbClr val="0A3A63"/>
          </a:solidFill>
          <a:ln w="12700">
            <a:solidFill>
              <a:srgbClr val="0A3A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777240"/>
            <a:ext cx="11878056" cy="576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three types of physical activity you did last week (e.g. play, sport, chores, exercise).</a:t>
            </a:r>
            <a:endParaRPr lang="en-US" sz="1800" dirty="0"/>
          </a:p>
          <a:p>
            <a:pPr marL="342900" indent="-342900">
              <a:spcAft>
                <a:spcPts val="2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one way physical activity could benefit your body, besides fitness.</a:t>
            </a:r>
            <a:endParaRPr lang="en-US" sz="1800" dirty="0"/>
          </a:p>
          <a:p>
            <a:pPr marL="342900" indent="-342900">
              <a:spcAft>
                <a:spcPts val="2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netball player trains four times a week. Suggest one benefit this might have on her mood.</a:t>
            </a:r>
            <a:endParaRPr lang="en-US" sz="1800" dirty="0"/>
          </a:p>
          <a:p>
            <a:pPr marL="342900" indent="-342900">
              <a:spcAft>
                <a:spcPts val="2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false: physical activity can improve your ability to concentrate in class. Justify your answer.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377440"/>
            <a:ext cx="109087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of Maintaining an Active Lifestyle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466344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AOS 1 — Topic 7.3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2064"/>
          </a:xfrm>
          <a:prstGeom prst="rect">
            <a:avLst/>
          </a:prstGeom>
          <a:solidFill>
            <a:srgbClr val="0A3A63"/>
          </a:solidFill>
          <a:ln w="12700">
            <a:solidFill>
              <a:srgbClr val="0A3A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1197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LEARNING INTENTIONS &amp; SUCCESS CRITERIA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512064"/>
            <a:ext cx="54864" cy="6345936"/>
          </a:xfrm>
          <a:prstGeom prst="rect">
            <a:avLst/>
          </a:prstGeom>
          <a:solidFill>
            <a:srgbClr val="0A3A63"/>
          </a:solidFill>
          <a:ln w="12700">
            <a:solidFill>
              <a:srgbClr val="0A3A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640080"/>
            <a:ext cx="5803697" cy="5760720"/>
          </a:xfrm>
          <a:prstGeom prst="rect">
            <a:avLst/>
          </a:prstGeom>
          <a:solidFill>
            <a:srgbClr val="D6E4F0"/>
          </a:solidFill>
          <a:ln w="12700">
            <a:solidFill>
              <a:srgbClr val="0A3A63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31520"/>
            <a:ext cx="1581912" cy="292608"/>
          </a:xfrm>
          <a:prstGeom prst="rect">
            <a:avLst/>
          </a:prstGeom>
          <a:solidFill>
            <a:srgbClr val="0A3A63"/>
          </a:solidFill>
          <a:ln w="12700">
            <a:solidFill>
              <a:srgbClr val="0A3A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31520"/>
            <a:ext cx="1581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KNOWLEDGE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188720"/>
            <a:ext cx="5440680" cy="507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physical, social, mental, emotional and spiritual benefits of regular participation in types of movement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60897" y="640080"/>
            <a:ext cx="5803697" cy="5760720"/>
          </a:xfrm>
          <a:prstGeom prst="rect">
            <a:avLst/>
          </a:prstGeom>
          <a:solidFill>
            <a:srgbClr val="FBEEE4"/>
          </a:solidFill>
          <a:ln w="12700">
            <a:solidFill>
              <a:srgbClr val="0A3A63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52337" y="731520"/>
            <a:ext cx="1280160" cy="292608"/>
          </a:xfrm>
          <a:prstGeom prst="rect">
            <a:avLst/>
          </a:prstGeom>
          <a:solidFill>
            <a:srgbClr val="0A3A63"/>
          </a:solidFill>
          <a:ln w="12700">
            <a:solidFill>
              <a:srgbClr val="0A3A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2337" y="73152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SKILLS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3777" y="1188720"/>
            <a:ext cx="5440680" cy="507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 in a variety of movement experiences to reflect on and record information related to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physical, social, mental, emotional and spiritual benefits of physical activity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2064"/>
          </a:xfrm>
          <a:prstGeom prst="rect">
            <a:avLst/>
          </a:prstGeom>
          <a:solidFill>
            <a:srgbClr val="0A3A63"/>
          </a:solidFill>
          <a:ln w="12700">
            <a:solidFill>
              <a:srgbClr val="0A3A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1197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I DO — Physical Benefits of Regular Activity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512064"/>
            <a:ext cx="54864" cy="6345936"/>
          </a:xfrm>
          <a:prstGeom prst="rect">
            <a:avLst/>
          </a:prstGeom>
          <a:solidFill>
            <a:srgbClr val="0A3A63"/>
          </a:solidFill>
          <a:ln w="12700">
            <a:solidFill>
              <a:srgbClr val="0A3A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14400"/>
            <a:ext cx="10725912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1078992"/>
            <a:ext cx="1380744" cy="292608"/>
          </a:xfrm>
          <a:prstGeom prst="rect">
            <a:avLst/>
          </a:prstGeom>
          <a:solidFill>
            <a:srgbClr val="0A3A63"/>
          </a:solidFill>
          <a:ln w="12700">
            <a:solidFill>
              <a:srgbClr val="0A3A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078992"/>
            <a:ext cx="1380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1517904"/>
            <a:ext cx="10396728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physical activity produces measurable physical health benefits, from healthy body weight to reduced chronic disease risk.</a:t>
            </a:r>
            <a:endParaRPr lang="en-US" sz="2400" dirty="0"/>
          </a:p>
          <a:p>
            <a:pPr marL="342900" indent="-342900">
              <a:buSzPct val="100000"/>
              <a:buChar char="■"/>
            </a:pPr>
            <a:r>
              <a:rPr lang="en-US" sz="1800" b="1" dirty="0">
                <a:solidFill>
                  <a:srgbClr val="0A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&amp; energy: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training supports healthy body weight and boosts daily energy levels for matches.</a:t>
            </a:r>
            <a:endParaRPr lang="en-US" sz="2400" dirty="0"/>
          </a:p>
          <a:p>
            <a:pPr marL="342900" indent="-342900">
              <a:buSzPct val="100000"/>
              <a:buChar char="■"/>
            </a:pPr>
            <a:r>
              <a:rPr lang="en-US" sz="1800" b="1" dirty="0">
                <a:solidFill>
                  <a:srgbClr val="0A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Bones &amp; muscles: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Netball's jumping, landing and pivoting build stronger bones, muscles and joints over a season.</a:t>
            </a:r>
            <a:endParaRPr lang="en-US" sz="2400" dirty="0"/>
          </a:p>
          <a:p>
            <a:pPr marL="342900" indent="-342900">
              <a:buSzPct val="100000"/>
              <a:buChar char="■"/>
            </a:pPr>
            <a:r>
              <a:rPr lang="en-US" sz="1800" b="1" dirty="0">
                <a:solidFill>
                  <a:srgbClr val="0A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Immunity &amp; heart: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play improves the cardiorespiratory system and boosts immune function for recovery.</a:t>
            </a:r>
            <a:endParaRPr lang="en-US" sz="2400" dirty="0"/>
          </a:p>
          <a:p>
            <a:pPr marL="342900" indent="-342900">
              <a:buSzPct val="100000"/>
              <a:buChar char="■"/>
            </a:pPr>
            <a:r>
              <a:rPr lang="en-US" sz="1800" b="1" dirty="0">
                <a:solidFill>
                  <a:srgbClr val="0A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risk: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activity lowers risk of cardiovascular disease, obesity, diabetes and osteoporosis.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2064"/>
          </a:xfrm>
          <a:prstGeom prst="rect">
            <a:avLst/>
          </a:prstGeom>
          <a:solidFill>
            <a:srgbClr val="0A3A63"/>
          </a:solidFill>
          <a:ln w="12700">
            <a:solidFill>
              <a:srgbClr val="0A3A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1197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I DO — Mental Benefits of Regular Activity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512064"/>
            <a:ext cx="54864" cy="6345936"/>
          </a:xfrm>
          <a:prstGeom prst="rect">
            <a:avLst/>
          </a:prstGeom>
          <a:solidFill>
            <a:srgbClr val="0A3A63"/>
          </a:solidFill>
          <a:ln w="12700">
            <a:solidFill>
              <a:srgbClr val="0A3A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14400"/>
            <a:ext cx="10725912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1078992"/>
            <a:ext cx="1380744" cy="292608"/>
          </a:xfrm>
          <a:prstGeom prst="rect">
            <a:avLst/>
          </a:prstGeom>
          <a:solidFill>
            <a:srgbClr val="0A3A63"/>
          </a:solidFill>
          <a:ln w="12700">
            <a:solidFill>
              <a:srgbClr val="0A3A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078992"/>
            <a:ext cx="1380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1517904"/>
            <a:ext cx="10396728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physical activity improves brain function and mental wellbeing, from stress reduction to sharper thinking.</a:t>
            </a:r>
            <a:endParaRPr lang="en-US" sz="2400" dirty="0"/>
          </a:p>
          <a:p>
            <a:pPr marL="342900" indent="-342900">
              <a:buSzPct val="100000"/>
              <a:buChar char="■"/>
            </a:pPr>
            <a:r>
              <a:rPr lang="en-US" sz="1800" b="1" dirty="0">
                <a:solidFill>
                  <a:srgbClr val="0A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&amp; cortisol: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lowers cortisol, the stress hormone, helping players feel calmer under match pressure.</a:t>
            </a:r>
            <a:endParaRPr lang="en-US" sz="2400" dirty="0"/>
          </a:p>
          <a:p>
            <a:pPr marL="342900" indent="-342900">
              <a:buSzPct val="100000"/>
              <a:buChar char="■"/>
            </a:pPr>
            <a:r>
              <a:rPr lang="en-US" sz="1800" b="1" dirty="0">
                <a:solidFill>
                  <a:srgbClr val="0A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Concentration: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activity improves concentration and information processing during fast passages of play.</a:t>
            </a:r>
            <a:endParaRPr lang="en-US" sz="2400" dirty="0"/>
          </a:p>
          <a:p>
            <a:pPr marL="342900" indent="-342900">
              <a:buSzPct val="100000"/>
              <a:buChar char="■"/>
            </a:pPr>
            <a:r>
              <a:rPr lang="en-US" sz="1800" b="1" dirty="0">
                <a:solidFill>
                  <a:srgbClr val="0A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Achieving training and match goals builds self-confidence and reduces obesity-related self-esteem issues.</a:t>
            </a:r>
            <a:endParaRPr lang="en-US" sz="2400" dirty="0"/>
          </a:p>
          <a:p>
            <a:pPr marL="342900" indent="-342900">
              <a:buSzPct val="100000"/>
              <a:buChar char="■"/>
            </a:pPr>
            <a:r>
              <a:rPr lang="en-US" sz="1800" b="1" dirty="0">
                <a:solidFill>
                  <a:srgbClr val="0A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&amp; learning: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PE and sport participation is linked to improved brain function and academic performance.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2064"/>
          </a:xfrm>
          <a:prstGeom prst="rect">
            <a:avLst/>
          </a:prstGeom>
          <a:solidFill>
            <a:srgbClr val="0A3A63"/>
          </a:solidFill>
          <a:ln w="12700">
            <a:solidFill>
              <a:srgbClr val="0A3A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1197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I DO — Emotional Benefits of Regular Activity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512064"/>
            <a:ext cx="54864" cy="6345936"/>
          </a:xfrm>
          <a:prstGeom prst="rect">
            <a:avLst/>
          </a:prstGeom>
          <a:solidFill>
            <a:srgbClr val="0A3A63"/>
          </a:solidFill>
          <a:ln w="12700">
            <a:solidFill>
              <a:srgbClr val="0A3A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14400"/>
            <a:ext cx="10725912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1078992"/>
            <a:ext cx="1380744" cy="292608"/>
          </a:xfrm>
          <a:prstGeom prst="rect">
            <a:avLst/>
          </a:prstGeom>
          <a:solidFill>
            <a:srgbClr val="0A3A63"/>
          </a:solidFill>
          <a:ln w="12700">
            <a:solidFill>
              <a:srgbClr val="0A3A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078992"/>
            <a:ext cx="1380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1517904"/>
            <a:ext cx="10396728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physical activity supports emotional wellbeing by regulating mood and building resilience through wins and losses.</a:t>
            </a:r>
            <a:endParaRPr lang="en-US" sz="2400" dirty="0"/>
          </a:p>
          <a:p>
            <a:pPr marL="342900" indent="-342900">
              <a:buSzPct val="100000"/>
              <a:buChar char="■"/>
            </a:pPr>
            <a:r>
              <a:rPr lang="en-US" sz="1800" b="1" dirty="0">
                <a:solidFill>
                  <a:srgbClr val="0A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hormones: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releases endorphins, dopamine and norepinephrine, which help regulate mood.</a:t>
            </a:r>
            <a:endParaRPr lang="en-US" sz="2400" dirty="0"/>
          </a:p>
          <a:p>
            <a:pPr marL="342900" indent="-342900">
              <a:buSzPct val="100000"/>
              <a:buChar char="■"/>
            </a:pPr>
            <a:r>
              <a:rPr lang="en-US" sz="1800" b="1" dirty="0">
                <a:solidFill>
                  <a:srgbClr val="0A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Resilience: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to manage frustration after a loss builds resilience for future matches and life.</a:t>
            </a:r>
            <a:endParaRPr lang="en-US" sz="2400" dirty="0"/>
          </a:p>
          <a:p>
            <a:pPr marL="342900" indent="-342900">
              <a:buSzPct val="100000"/>
              <a:buChar char="■"/>
            </a:pPr>
            <a:r>
              <a:rPr lang="en-US" sz="1800" b="1" dirty="0">
                <a:solidFill>
                  <a:srgbClr val="0A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emotions: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gives structured practice in expressing exhilaration or disappointment appropriately.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2064"/>
          </a:xfrm>
          <a:prstGeom prst="rect">
            <a:avLst/>
          </a:prstGeom>
          <a:solidFill>
            <a:srgbClr val="0A3A63"/>
          </a:solidFill>
          <a:ln w="12700">
            <a:solidFill>
              <a:srgbClr val="0A3A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1197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I DO — Social Benefits of Regular Activity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512064"/>
            <a:ext cx="54864" cy="6345936"/>
          </a:xfrm>
          <a:prstGeom prst="rect">
            <a:avLst/>
          </a:prstGeom>
          <a:solidFill>
            <a:srgbClr val="0A3A63"/>
          </a:solidFill>
          <a:ln w="12700">
            <a:solidFill>
              <a:srgbClr val="0A3A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14400"/>
            <a:ext cx="10725912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1078992"/>
            <a:ext cx="1380744" cy="292608"/>
          </a:xfrm>
          <a:prstGeom prst="rect">
            <a:avLst/>
          </a:prstGeom>
          <a:solidFill>
            <a:srgbClr val="0A3A63"/>
          </a:solidFill>
          <a:ln w="12700">
            <a:solidFill>
              <a:srgbClr val="0A3A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078992"/>
            <a:ext cx="1380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1517904"/>
            <a:ext cx="10396728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physical activity strengthens social health by building relationships and reducing loneliness.</a:t>
            </a:r>
            <a:endParaRPr lang="en-US" sz="2400" dirty="0"/>
          </a:p>
          <a:p>
            <a:pPr marL="342900" indent="-342900">
              <a:buSzPct val="100000"/>
              <a:buChar char="■"/>
            </a:pPr>
            <a:r>
              <a:rPr lang="en-US" sz="1800" b="1" dirty="0">
                <a:solidFill>
                  <a:srgbClr val="0A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people: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a netball team exposes players to new teammates, coaches and opposition players.</a:t>
            </a:r>
            <a:endParaRPr lang="en-US" sz="2400" dirty="0"/>
          </a:p>
          <a:p>
            <a:pPr marL="342900" indent="-342900">
              <a:buSzPct val="100000"/>
              <a:buChar char="■"/>
            </a:pPr>
            <a:r>
              <a:rPr lang="en-US" sz="1800" b="1" dirty="0">
                <a:solidFill>
                  <a:srgbClr val="0A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&amp; trust: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training and match goals build trust and stronger relationships between teammates.</a:t>
            </a:r>
            <a:endParaRPr lang="en-US" sz="2400" dirty="0"/>
          </a:p>
          <a:p>
            <a:pPr marL="342900" indent="-342900">
              <a:buSzPct val="100000"/>
              <a:buChar char="■"/>
            </a:pPr>
            <a:r>
              <a:rPr lang="en-US" sz="1800" b="1" dirty="0">
                <a:solidFill>
                  <a:srgbClr val="0A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Communication: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On-court calling and feedback improve players' communication skills over a season.</a:t>
            </a:r>
            <a:endParaRPr lang="en-US" sz="2400" dirty="0"/>
          </a:p>
          <a:p>
            <a:pPr marL="342900" indent="-342900">
              <a:buSzPct val="100000"/>
              <a:buChar char="■"/>
            </a:pPr>
            <a:r>
              <a:rPr lang="en-US" sz="1800" b="1" dirty="0">
                <a:solidFill>
                  <a:srgbClr val="0A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isolation: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club involvement reduces feelings of loneliness and isolation, especially after moving schools.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2064"/>
          </a:xfrm>
          <a:prstGeom prst="rect">
            <a:avLst/>
          </a:prstGeom>
          <a:solidFill>
            <a:srgbClr val="0A3A63"/>
          </a:solidFill>
          <a:ln w="12700">
            <a:solidFill>
              <a:srgbClr val="0A3A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1197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I DO — Spiritual Benefits of Regular Activity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512064"/>
            <a:ext cx="54864" cy="6345936"/>
          </a:xfrm>
          <a:prstGeom prst="rect">
            <a:avLst/>
          </a:prstGeom>
          <a:solidFill>
            <a:srgbClr val="0A3A63"/>
          </a:solidFill>
          <a:ln w="12700">
            <a:solidFill>
              <a:srgbClr val="0A3A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14400"/>
            <a:ext cx="10725912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1078992"/>
            <a:ext cx="1380744" cy="292608"/>
          </a:xfrm>
          <a:prstGeom prst="rect">
            <a:avLst/>
          </a:prstGeom>
          <a:solidFill>
            <a:srgbClr val="0A3A63"/>
          </a:solidFill>
          <a:ln w="12700">
            <a:solidFill>
              <a:srgbClr val="0A3A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078992"/>
            <a:ext cx="1380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1517904"/>
            <a:ext cx="10396728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physical activity nurtures spiritual health by fostering belonging, purpose and connection.</a:t>
            </a:r>
            <a:endParaRPr lang="en-US" sz="2400" dirty="0"/>
          </a:p>
          <a:p>
            <a:pPr marL="342900" indent="-342900">
              <a:buSzPct val="100000"/>
              <a:buChar char="■"/>
            </a:pPr>
            <a:r>
              <a:rPr lang="en-US" sz="1800" b="1" dirty="0">
                <a:solidFill>
                  <a:srgbClr val="0A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Belonging &amp; purpose: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part of a netball club builds a sense of belonging and purpose beyond just fitness.</a:t>
            </a:r>
            <a:endParaRPr lang="en-US" sz="2400" dirty="0"/>
          </a:p>
          <a:p>
            <a:pPr marL="342900" indent="-342900">
              <a:buSzPct val="100000"/>
              <a:buChar char="■"/>
            </a:pPr>
            <a:r>
              <a:rPr lang="en-US" sz="1800" b="1" dirty="0">
                <a:solidFill>
                  <a:srgbClr val="0A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to nature: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 court sessions can foster a sense of connection to nature and mindfulness.</a:t>
            </a:r>
            <a:endParaRPr lang="en-US" sz="2400" dirty="0"/>
          </a:p>
          <a:p>
            <a:pPr marL="342900" indent="-342900">
              <a:buSzPct val="100000"/>
              <a:buChar char="■"/>
            </a:pPr>
            <a:r>
              <a:rPr lang="en-US" sz="1800" b="1" dirty="0">
                <a:solidFill>
                  <a:srgbClr val="0A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connection: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First Nations players, movement on Country can deepen cultural and spiritual connection.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15662F"/>
          </a:solidFill>
          <a:ln w="12700">
            <a:solidFill>
              <a:srgbClr val="1566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2064"/>
          </a:xfrm>
          <a:prstGeom prst="rect">
            <a:avLst/>
          </a:prstGeom>
          <a:solidFill>
            <a:srgbClr val="0A3A63"/>
          </a:solidFill>
          <a:ln w="12700">
            <a:solidFill>
              <a:srgbClr val="0A3A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1197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LEARNING ACTIVITY — Reflecting on Netball's Five Benefits (15 min)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512064"/>
            <a:ext cx="54864" cy="6345936"/>
          </a:xfrm>
          <a:prstGeom prst="rect">
            <a:avLst/>
          </a:prstGeom>
          <a:solidFill>
            <a:srgbClr val="0A3A63"/>
          </a:solidFill>
          <a:ln w="12700">
            <a:solidFill>
              <a:srgbClr val="0A3A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14400"/>
            <a:ext cx="10725912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1078992"/>
            <a:ext cx="822960" cy="292608"/>
          </a:xfrm>
          <a:prstGeom prst="rect">
            <a:avLst/>
          </a:prstGeom>
          <a:solidFill>
            <a:srgbClr val="0A3A63"/>
          </a:solidFill>
          <a:ln w="12700">
            <a:solidFill>
              <a:srgbClr val="0A3A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07899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1517904"/>
            <a:ext cx="10396728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training or a match, complete a Benefits Reflection Log for netball. For EACH of the five dimensions (physical, mental, emotional, social, spiritual), record one specific benefit you experienced and explain how it happened.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0A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SCAFFOLDING — USE WHAT YOU NEED</a:t>
            </a:r>
            <a:endParaRPr lang="en-US" sz="2400" dirty="0"/>
          </a:p>
          <a:p>
            <a:pPr marL="342900" indent="-342900">
              <a:buSzPct val="100000"/>
              <a:buChar char="■"/>
            </a:pPr>
            <a:r>
              <a:rPr lang="en-US" sz="1800" b="1" dirty="0">
                <a:solidFill>
                  <a:srgbClr val="0A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rows, one per dimension. Format: Dimension → What happened → Why it counts as a benefit.</a:t>
            </a:r>
            <a:endParaRPr lang="en-US" sz="2400" dirty="0"/>
          </a:p>
          <a:p>
            <a:pPr marL="342900" indent="-342900">
              <a:buSzPct val="100000"/>
              <a:buChar char="■"/>
            </a:pPr>
            <a:r>
              <a:rPr lang="en-US" sz="1800" b="1" dirty="0">
                <a:solidFill>
                  <a:srgbClr val="0A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these terms: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cortisol, endorphins, resilience, cardiorespiratory, belonging, communication, self-confidence</a:t>
            </a:r>
            <a:endParaRPr lang="en-US" sz="2400" dirty="0"/>
          </a:p>
          <a:p>
            <a:pPr marL="342900" indent="-342900">
              <a:buSzPct val="100000"/>
              <a:buChar char="■"/>
            </a:pPr>
            <a:r>
              <a:rPr lang="en-US" sz="1800" b="1" dirty="0">
                <a:solidFill>
                  <a:srgbClr val="0A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with: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training/the match, I experienced [benefit] because [what happened], which shows [dimension] benefit.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5A1A5A"/>
          </a:solidFill>
          <a:ln w="12700">
            <a:solidFill>
              <a:srgbClr val="5A1A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2064"/>
          </a:xfrm>
          <a:prstGeom prst="rect">
            <a:avLst/>
          </a:prstGeom>
          <a:solidFill>
            <a:srgbClr val="0A3A63"/>
          </a:solidFill>
          <a:ln w="12700">
            <a:solidFill>
              <a:srgbClr val="0A3A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1197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EXAM TIP — Answering 'Explain' Questions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512064"/>
            <a:ext cx="54864" cy="6345936"/>
          </a:xfrm>
          <a:prstGeom prst="rect">
            <a:avLst/>
          </a:prstGeom>
          <a:solidFill>
            <a:srgbClr val="0A3A63"/>
          </a:solidFill>
          <a:ln w="12700">
            <a:solidFill>
              <a:srgbClr val="0A3A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14400"/>
            <a:ext cx="10725912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1078992"/>
            <a:ext cx="1078992" cy="292608"/>
          </a:xfrm>
          <a:prstGeom prst="rect">
            <a:avLst/>
          </a:prstGeom>
          <a:solidFill>
            <a:srgbClr val="0A3A63"/>
          </a:solidFill>
          <a:ln w="12700">
            <a:solidFill>
              <a:srgbClr val="0A3A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078992"/>
            <a:ext cx="1078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TIP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1517904"/>
            <a:ext cx="10396728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= state WHAT the benefit is, HOW it happens (the mechanism), and WHY it matters for the person or their performance — not just a label.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5A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Exercise improves mental health.</a:t>
            </a:r>
            <a:endParaRPr lang="en-US" sz="24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800" dirty="0">
                <a:solidFill>
                  <a:srgbClr val="156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Exercise reduces cortisol, which lowers stress, helping a netball player concentrate under match pressure.</a:t>
            </a:r>
            <a:endParaRPr lang="en-US" sz="2400" dirty="0"/>
          </a:p>
          <a:p>
            <a:pPr indent="0" marL="0">
              <a:buNone/>
            </a:pPr>
            <a:r>
              <a:rPr lang="en-US" sz="1800" i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A one-word or unexplained benefit earns partial marks only — 'Explain' requires the causal link to be stated.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5A1A5A"/>
          </a:solidFill>
          <a:ln w="12700">
            <a:solidFill>
              <a:srgbClr val="5A1A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2064"/>
          </a:xfrm>
          <a:prstGeom prst="rect">
            <a:avLst/>
          </a:prstGeom>
          <a:solidFill>
            <a:srgbClr val="0A3A63"/>
          </a:solidFill>
          <a:ln w="12700">
            <a:solidFill>
              <a:srgbClr val="0A3A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1197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EXAM PRACTICE — Benefits of Activity — Short Answer (3 marks, 5 min)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512064"/>
            <a:ext cx="54864" cy="6345936"/>
          </a:xfrm>
          <a:prstGeom prst="rect">
            <a:avLst/>
          </a:prstGeom>
          <a:solidFill>
            <a:srgbClr val="0A3A63"/>
          </a:solidFill>
          <a:ln w="12700">
            <a:solidFill>
              <a:srgbClr val="0A3A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14400"/>
            <a:ext cx="10725912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1078992"/>
            <a:ext cx="1078992" cy="292608"/>
          </a:xfrm>
          <a:prstGeom prst="rect">
            <a:avLst/>
          </a:prstGeom>
          <a:solidFill>
            <a:srgbClr val="0A3A63"/>
          </a:solidFill>
          <a:ln w="12700">
            <a:solidFill>
              <a:srgbClr val="0A3A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078992"/>
            <a:ext cx="1078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1517904"/>
            <a:ext cx="10396728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netball player has joined a new club after moving to a different city. Explain TWO benefits of regular netball participation for this player, other than physical benefits.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0A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APPROACH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Identify two non-physical benefit dimensions (e.g. social, emotional, mental, spiritual).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For each, state what happens and link it to the player's specific situation (new to the club).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Explain why this matters for the player, not just what the benefit is called.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5A1A5A"/>
          </a:solidFill>
          <a:ln w="12700">
            <a:solidFill>
              <a:srgbClr val="5A1A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2064"/>
          </a:xfrm>
          <a:prstGeom prst="rect">
            <a:avLst/>
          </a:prstGeom>
          <a:solidFill>
            <a:srgbClr val="0A3A63"/>
          </a:solidFill>
          <a:ln w="12700">
            <a:solidFill>
              <a:srgbClr val="0A3A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1197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EXAM PRACTICE — Modelled Answer (3 marks)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512064"/>
            <a:ext cx="54864" cy="6345936"/>
          </a:xfrm>
          <a:prstGeom prst="rect">
            <a:avLst/>
          </a:prstGeom>
          <a:solidFill>
            <a:srgbClr val="0A3A63"/>
          </a:solidFill>
          <a:ln w="12700">
            <a:solidFill>
              <a:srgbClr val="0A3A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14400"/>
            <a:ext cx="10725912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1078992"/>
            <a:ext cx="1783080" cy="292608"/>
          </a:xfrm>
          <a:prstGeom prst="rect">
            <a:avLst/>
          </a:prstGeom>
          <a:solidFill>
            <a:srgbClr val="0A3A63"/>
          </a:solidFill>
          <a:ln w="12700">
            <a:solidFill>
              <a:srgbClr val="0A3A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07899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ANSWER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1517904"/>
            <a:ext cx="10396728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18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Social: joining the club lets her meet new teammates and coaches, building relationships and reducing the loneliness of moving city. Emotional: training with a new team helps her manage nerves and build resilience as she settles in, improving her emotional wellbeing.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0A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AWARDED FOR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56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Identifies social benefit (1 mark)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56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Explains social benefit — new relationships / reduced isolation (1 mark)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56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Identifies and explains second benefit — emotional/mental/spiritual (1 mark)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5A1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error: Students name a benefit dimension (e.g. 'social') without explaining what actually happens — this only earns identification marks, not explanation marks.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8A3210"/>
          </a:solidFill>
          <a:ln w="12700">
            <a:solidFill>
              <a:srgbClr val="8A32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2064"/>
          </a:xfrm>
          <a:prstGeom prst="rect">
            <a:avLst/>
          </a:prstGeom>
          <a:solidFill>
            <a:srgbClr val="0A3A63"/>
          </a:solidFill>
          <a:ln w="12700">
            <a:solidFill>
              <a:srgbClr val="0A3A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1197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YOU DO — Netball Benefits Continuum (20 min)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512064"/>
            <a:ext cx="54864" cy="6345936"/>
          </a:xfrm>
          <a:prstGeom prst="rect">
            <a:avLst/>
          </a:prstGeom>
          <a:solidFill>
            <a:srgbClr val="0A3A63"/>
          </a:solidFill>
          <a:ln w="12700">
            <a:solidFill>
              <a:srgbClr val="0A3A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097280"/>
            <a:ext cx="10725912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280160"/>
            <a:ext cx="10396728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1800"/>
              </a:spcAft>
              <a:buNone/>
            </a:pPr>
            <a:r>
              <a:rPr lang="en-US" sz="28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Challenge Continuum task on the portal</a:t>
            </a:r>
            <a:endParaRPr lang="en-US" sz="2800" dirty="0"/>
          </a:p>
          <a:p>
            <a:pPr algn="ctr" indent="0" marL="0">
              <a:spcAft>
                <a:spcPts val="1800"/>
              </a:spcAft>
              <a:buNone/>
            </a:pPr>
            <a:r>
              <a:rPr lang="en-US" sz="2200" dirty="0">
                <a:solidFill>
                  <a:srgbClr val="0A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Netball Benefits Continuum</a:t>
            </a:r>
            <a:endParaRPr lang="en-US" sz="28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minutes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5A1A5A"/>
          </a:solidFill>
          <a:ln w="12700">
            <a:solidFill>
              <a:srgbClr val="5A1A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2064"/>
          </a:xfrm>
          <a:prstGeom prst="rect">
            <a:avLst/>
          </a:prstGeom>
          <a:solidFill>
            <a:srgbClr val="0A3A63"/>
          </a:solidFill>
          <a:ln w="12700">
            <a:solidFill>
              <a:srgbClr val="0A3A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1197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EXIT CARD (5 min)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512064"/>
            <a:ext cx="54864" cy="6345936"/>
          </a:xfrm>
          <a:prstGeom prst="rect">
            <a:avLst/>
          </a:prstGeom>
          <a:solidFill>
            <a:srgbClr val="0A3A63"/>
          </a:solidFill>
          <a:ln w="12700">
            <a:solidFill>
              <a:srgbClr val="0A3A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14400"/>
            <a:ext cx="10725912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1078992"/>
            <a:ext cx="822960" cy="292608"/>
          </a:xfrm>
          <a:prstGeom prst="rect">
            <a:avLst/>
          </a:prstGeom>
          <a:solidFill>
            <a:srgbClr val="0A3A63"/>
          </a:solidFill>
          <a:ln w="12700">
            <a:solidFill>
              <a:srgbClr val="0A3A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07899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1517904"/>
            <a:ext cx="10396728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Font typeface="+mj-lt"/>
              <a:buAutoNum type="arabicPeriod" startAt="1"/>
            </a:pPr>
            <a:r>
              <a:rPr lang="en-US" sz="24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five dimensions of benefit from regular physical activity.</a:t>
            </a:r>
            <a:endParaRPr lang="en-US" sz="2400" dirty="0"/>
          </a:p>
          <a:p>
            <a:pPr marL="342900" indent="-342900">
              <a:spcAft>
                <a:spcPts val="1800"/>
              </a:spcAft>
              <a:buSzPct val="100000"/>
              <a:buFont typeface="+mj-lt"/>
              <a:buAutoNum type="arabicPeriod" startAt="1"/>
            </a:pPr>
            <a:r>
              <a:rPr lang="en-US" sz="24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netball player feels less lonely after joining a club. Which dimension of benefit is this, and why?</a:t>
            </a:r>
            <a:endParaRPr lang="en-US" sz="2400" dirty="0"/>
          </a:p>
          <a:p>
            <a:pPr marL="342900" indent="-342900">
              <a:spcAft>
                <a:spcPts val="1800"/>
              </a:spcAft>
              <a:buSzPct val="100000"/>
              <a:buFont typeface="+mj-lt"/>
              <a:buAutoNum type="arabicPeriod" startAt="1"/>
            </a:pPr>
            <a:r>
              <a:rPr lang="en-US" sz="24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ONE mental benefit of regular netball training, including the mechanism.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4C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96112" y="768096"/>
            <a:ext cx="2185416" cy="292608"/>
          </a:xfrm>
          <a:prstGeom prst="rect">
            <a:avLst/>
          </a:prstGeom>
          <a:solidFill>
            <a:srgbClr val="0A3A63"/>
          </a:solidFill>
          <a:ln w="12700">
            <a:solidFill>
              <a:srgbClr val="0A3A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96112" y="768096"/>
            <a:ext cx="2185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NOW KNOW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96112" y="1207008"/>
            <a:ext cx="10396728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0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physical, social, mental, emotional and spiritual benefits of regular participation in types of movement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Benefits of Maintaining an Active Lifestyle</dc:title>
  <dc:subject>PptxGenJS Presentation</dc:subject>
  <dc:creator>PptxGenJS</dc:creator>
  <cp:lastModifiedBy>PptxGenJS</cp:lastModifiedBy>
  <cp:revision>1</cp:revision>
  <dcterms:created xsi:type="dcterms:W3CDTF">2026-07-13T06:31:36Z</dcterms:created>
  <dcterms:modified xsi:type="dcterms:W3CDTF">2026-07-13T06:31:36Z</dcterms:modified>
</cp:coreProperties>
</file>