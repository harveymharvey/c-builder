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fixed correct answer — this is a values/opinion hook, not a knowledge check. Purpose: surface the intuitive distinction between formal and informal sport before the lesson names it explicitly. Facilitation: take a quick show-of-hands, ask two students on each side for their justification, then say: 'Both are physical activity — today we're learning the vocabulary to describe exactly what makes them different types.' Do not resolve the debate — bank it for I DO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of AOS 1. Textbook: Jacaranda Live It Up VCE Units 1 &amp; 2, Topic 7.2 (pp. 240–243).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KK and KS both verbatim from VCE PE Study Design 2025–2029 / Jacaranda 7.2 chapter overview table, each split into two list items at their original clause/comma boundary because the full single-sentence wording (138 and 142 chars respectively) exceeds the 110-char slide limit — wording is untouched, only the chunking changed. Plain-English: 'There are eight different boxes we sort physical activity into, and each box has its own rulebook of characteristics — today you learn to sort correctly and explain why.' KK1 (play/games/formal &amp; informal sport) is taught by I DO 1; KK2 (transport/chores/exercise/recreation) is taught by I DO 2. KS1 (participate and explain) + KS2 (culturally diverse/inclusive activities) are together enacted through the LEARNING ACTIVITY's classification task, which deliberately includes a multicultural community social-soccer example. Expected misconception: students conflate 'sport' with 'exercise' generally, or think 'informal sport' just means 'not very good at it' rather than a structural difference in organisation. Sport-context preview: 'By the end of today you'll be able to look at anything a soccer player does in a week — training, a match, kicking a ball in the backyard — and correctly name and justify its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Thematic — all four grouped under 'How organised does something need to be before it counts as sport?' HITS: Explicit Teaching, Multiple Exposures. 5Ps: Pedagogical Practice. Sport-context anchor: 'A club soccer match and a backyard kick-to-kick are both soccer — the difference is entirely in the organisation and rules, not the sport itself. Figure 7.2 makes exactly this point.' Cold-call: 'Which of these four would you use to describe FIFA on the PlayStation with friends?' (games — rules exist, goal-oriented, but not physical exertion, so actually excluded from this list — use to sharpen the definition boundary). Anticipated misconception: students think 'informal sport' means low intensity or low skill; correct by pointing out street soccer can be just as intense as a club match — the difference is organisation, not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Cognitive Bookends — open: 'What movement happens in your day that isn't a sport or a game at all?'; close after bullets: 'Which of these four would still count even on a day you don't train?' (transport, chores, recreation — exercise usually implies deliberate intent). HITS: Explicit Teaching, Interleaved Examples (soccer example threads through every bullet). 5Ps: Pedagogical Practice, Purposeful Technology (could show a Strava/GPS walk-to-training screenshot as a visual anchor). Anticipated misconception: students think 'exercise' and 'sport' are interchangeable — correct by noting exercise is defined by health-focused routine, not competition (a solo training run is exercise; a match is sport). Cold-call: 'Is carrying the kit bag from the car to the pitch chores, exercise, or neither?' (chores — repetitive, task-oriented, necessary, not health-focused).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success criteria: all six activities correctly typed, each justified with a genuine characteristic from Table 7.1 (not just a restated definition). Common scaffolding-use pattern: lower-ability students lean on the key-terms list and checklist; higher-ability students often skip straight to justifying and self-correct only the tricky ones (the multicultural 5-a-side is deliberately ambiguous — could be informal sport or recreational depending on the reasoning given, both are acceptable if justified). Likely misconception: students call the kit-bag carrying 'exercise' because it's physical effort — redirect to 'chores' via the necessary/task-oriented test. Cold-call plan: call on a lower-ability student for the walk-to-training item first (easiest — clearly transportation), build confidence before calling on a higher-ability student for the ambiguous 5-a-side item. Stretch prompt for early finishers: 'Which of the six activities could move between two categories depending on how it's done? Explain.' Time-check: at 10 minutes, prompt 'you should have at least four of six activities sorted — check in with your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(question): individual attempt, 5 minutes, silent. Circulate for students who write only one difference — prompt 'you need TWO, and each needs its own soccer example.' Slide 2 (model): reveal point-by-point; emphasise that each mark point requires BOTH the structural difference AND the named soccer example — a correct difference with no soccer example only earns half the available marks. Source: modelled on the 'Outline two differences between informal and formal sports' style question from the 7.2 chapter review (Test Q4) and the 2018 ACHPER Unit 2 comparison-style question (7.2 Apply Q6), recalibrated to soccer and to 4 marks. Reteach trigger: if most students only name one difference, revisit Table 7.1's four-column structure (description/characteristics/examples) as the source of 'two features to compare' before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(question): individual attempt, 5 minutes, silent. Circulate for students who write only one difference — prompt 'you need TWO, and each needs its own soccer example.' Slide 2 (model): reveal point-by-point; emphasise that each mark point requires BOTH the structural difference AND the named soccer example — a correct difference with no soccer example only earns half the available marks. Source: modelled on the 'Outline two differences between informal and formal sports' style question from the 7.2 chapter review (Test Q4) and the 2018 ACHPER Unit 2 comparison-style question (7.2 Apply Q6), recalibrated to soccer and to 4 marks. Reteach trigger: if most students only name one difference, revisit Table 7.1's four-column structure (description/characteristics/examples) as the source of 'two features to compare' before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Continuum task: Classify Your Own Week of Activity
ACQUIRING:     Acquiring: Identify TWO physical activities from your own week and name which type each belongs to (play, games, formal or informal sport, transport, exercise, chores, or recreational).
CONSOLIDATING: Consolidating: Describe THREE physical activities from your week, naming the type of each and outlining ONE characteristic that makes it that type.
REFINING:      Refining: Choose a soccer session from your week (training, match or backyard kick-to-kick) and explain why it is formal or informal sport, using the characteristics from Table 7.1.
EXTENDING:     Extending: Compare a formal soccer match and an informal backyard kick-to-kick game, discussing similarities and differences across at least THREE characteristics (organisation, rules, venue).
MASTERING:     Mastering: A local council wants to increase soccer participation among people who can't afford formal club fees. Recommend ONE informal soccer activity they could set up, and justify why it removes the socioeconomic barrier while still counting as meaningful physical activity.
Teacher prompts: after 5 min check level selection; half-time prompt early finishers up a level; final 5 min students capture evidence.
Portal companion output required. Differentiation note: Acquiring/Consolidating students should have Table 7.1 open for reference; Refining students work with soccer only; Extending students bring in a second sport of their choice for the comparison; Mastering students should be reminded this previews 7.4 (sociocultural enablers/barriers) — flag that connection explicitly. Monitor Acquiring students closely — the common gap is naming an activity but guessing the type rather than checking it against a characteristic. Non-soccer players may substitute their own sport at Refining/Extending/Mastering levels but must keep the same structural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KK/KS mapping: Q1 checks KK1 (formal vs informal sport); Q2 checks KK2 (exercise vs recreational) + KS1+KS2 (explaining the distinction, drawing on the lesson's participation examples); Q3 checks KK2 (transportation) + KS1. Expected strong response: names the correct type AND references the defining characteristic, not just a restated example. Partial response: correct type, no justification. Weak response: confuses type with intensity or enjoyment level. Common misconception to watch for: labelling recreational activity as 'exercise' because it's physical effort — the test is whether it's health-focused/routine (exercise) or relaxing/leisure-time (recreational). Reteach trigger: if more than 30% miss Q2, run a 5-minute retrieval warm-up on the eight categories before 7.3. Collection method: paper hand-up on the way out. Time-to-mark estimate: ~10 minutes for a class of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script: 'Every physical activity you'll ever do — from a World Cup final to sitting on your loungeroom floor — fits into one of these eight boxes. That vocabulary is what today's lesson gave you.' Connection to next lesson: 7.3 moves from WHAT types of activity exist to WHY they matter — the physical, social, mental, emotional and spiritual benefits of doing them. Reteach flags: note during class whether students confused informal sport with low effort, or exercise with recreation — these are the two recurring error patterns worth a 2-minute retrieval check at the start of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EEE4"/>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DO NOW — complete on entry, individually and silently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548640" y="1280160"/>
            <a:ext cx="5303520" cy="3840480"/>
          </a:xfrm>
          <a:prstGeom prst="rect">
            <a:avLst/>
          </a:prstGeom>
          <a:solidFill>
            <a:srgbClr val="FFFFFF"/>
          </a:solidFill>
          <a:ln w="25400">
            <a:solidFill>
              <a:srgbClr val="8A3210"/>
            </a:solidFill>
            <a:prstDash val="solid"/>
          </a:ln>
        </p:spPr>
      </p:sp>
      <p:sp>
        <p:nvSpPr>
          <p:cNvPr id="7" name="Text 5"/>
          <p:cNvSpPr/>
          <p:nvPr/>
        </p:nvSpPr>
        <p:spPr>
          <a:xfrm>
            <a:off x="731520" y="1417320"/>
            <a:ext cx="914400" cy="640080"/>
          </a:xfrm>
          <a:prstGeom prst="rect">
            <a:avLst/>
          </a:prstGeom>
          <a:noFill/>
          <a:ln/>
        </p:spPr>
        <p:txBody>
          <a:bodyPr wrap="square" rtlCol="0" anchor="ctr"/>
          <a:lstStyle/>
          <a:p>
            <a:pPr indent="0" marL="0">
              <a:buNone/>
            </a:pPr>
            <a:r>
              <a:rPr lang="en-US" sz="3600" b="1" dirty="0">
                <a:solidFill>
                  <a:srgbClr val="0A3A63"/>
                </a:solidFill>
                <a:latin typeface="Calibri" pitchFamily="34" charset="0"/>
                <a:ea typeface="Calibri" pitchFamily="34" charset="-122"/>
                <a:cs typeface="Calibri" pitchFamily="34" charset="-120"/>
              </a:rPr>
              <a:t>A</a:t>
            </a:r>
            <a:endParaRPr lang="en-US" sz="3600" dirty="0"/>
          </a:p>
        </p:txBody>
      </p:sp>
      <p:sp>
        <p:nvSpPr>
          <p:cNvPr id="8" name="Text 6"/>
          <p:cNvSpPr/>
          <p:nvPr/>
        </p:nvSpPr>
        <p:spPr>
          <a:xfrm>
            <a:off x="731520" y="2103120"/>
            <a:ext cx="4937760" cy="2834640"/>
          </a:xfrm>
          <a:prstGeom prst="rect">
            <a:avLst/>
          </a:prstGeom>
          <a:noFill/>
          <a:ln/>
        </p:spPr>
        <p:txBody>
          <a:bodyPr wrap="square" rtlCol="0" anchor="t"/>
          <a:lstStyle/>
          <a:p>
            <a:pPr indent="0" marL="0">
              <a:buNone/>
            </a:pPr>
            <a:r>
              <a:rPr lang="en-US" sz="2000" dirty="0">
                <a:solidFill>
                  <a:srgbClr val="1C1C1A"/>
                </a:solidFill>
                <a:latin typeface="Calibri" pitchFamily="34" charset="0"/>
                <a:ea typeface="Calibri" pitchFamily="34" charset="-122"/>
                <a:cs typeface="Calibri" pitchFamily="34" charset="-120"/>
              </a:rPr>
              <a:t>A structured 90-minute club soccer match, with a coach, referee and set rules</a:t>
            </a:r>
            <a:endParaRPr lang="en-US" sz="2000" dirty="0"/>
          </a:p>
        </p:txBody>
      </p:sp>
      <p:sp>
        <p:nvSpPr>
          <p:cNvPr id="9" name="Text 7"/>
          <p:cNvSpPr/>
          <p:nvPr/>
        </p:nvSpPr>
        <p:spPr>
          <a:xfrm>
            <a:off x="5852160" y="3017520"/>
            <a:ext cx="484632" cy="365760"/>
          </a:xfrm>
          <a:prstGeom prst="rect">
            <a:avLst/>
          </a:prstGeom>
          <a:noFill/>
          <a:ln/>
        </p:spPr>
        <p:txBody>
          <a:bodyPr wrap="square" rtlCol="0" anchor="ctr"/>
          <a:lstStyle/>
          <a:p>
            <a:pPr algn="ctr" indent="0" marL="0">
              <a:buNone/>
            </a:pPr>
            <a:r>
              <a:rPr lang="en-US" sz="2000" b="1" dirty="0">
                <a:solidFill>
                  <a:srgbClr val="0A3A63"/>
                </a:solidFill>
                <a:latin typeface="Calibri" pitchFamily="34" charset="0"/>
                <a:ea typeface="Calibri" pitchFamily="34" charset="-122"/>
                <a:cs typeface="Calibri" pitchFamily="34" charset="-120"/>
              </a:rPr>
              <a:t>OR</a:t>
            </a:r>
            <a:endParaRPr lang="en-US" sz="2000" dirty="0"/>
          </a:p>
        </p:txBody>
      </p:sp>
      <p:sp>
        <p:nvSpPr>
          <p:cNvPr id="10" name="Shape 8"/>
          <p:cNvSpPr/>
          <p:nvPr/>
        </p:nvSpPr>
        <p:spPr>
          <a:xfrm>
            <a:off x="6336792" y="1280160"/>
            <a:ext cx="5303520" cy="3840480"/>
          </a:xfrm>
          <a:prstGeom prst="rect">
            <a:avLst/>
          </a:prstGeom>
          <a:solidFill>
            <a:srgbClr val="FFFFFF"/>
          </a:solidFill>
          <a:ln w="25400">
            <a:solidFill>
              <a:srgbClr val="8A3210"/>
            </a:solidFill>
            <a:prstDash val="solid"/>
          </a:ln>
        </p:spPr>
      </p:sp>
      <p:sp>
        <p:nvSpPr>
          <p:cNvPr id="11" name="Text 9"/>
          <p:cNvSpPr/>
          <p:nvPr/>
        </p:nvSpPr>
        <p:spPr>
          <a:xfrm>
            <a:off x="6519672" y="1417320"/>
            <a:ext cx="914400" cy="640080"/>
          </a:xfrm>
          <a:prstGeom prst="rect">
            <a:avLst/>
          </a:prstGeom>
          <a:noFill/>
          <a:ln/>
        </p:spPr>
        <p:txBody>
          <a:bodyPr wrap="square" rtlCol="0" anchor="ctr"/>
          <a:lstStyle/>
          <a:p>
            <a:pPr indent="0" marL="0">
              <a:buNone/>
            </a:pPr>
            <a:r>
              <a:rPr lang="en-US" sz="3600" b="1" dirty="0">
                <a:solidFill>
                  <a:srgbClr val="0A3A63"/>
                </a:solidFill>
                <a:latin typeface="Calibri" pitchFamily="34" charset="0"/>
                <a:ea typeface="Calibri" pitchFamily="34" charset="-122"/>
                <a:cs typeface="Calibri" pitchFamily="34" charset="-120"/>
              </a:rPr>
              <a:t>B</a:t>
            </a:r>
            <a:endParaRPr lang="en-US" sz="3600" dirty="0"/>
          </a:p>
        </p:txBody>
      </p:sp>
      <p:sp>
        <p:nvSpPr>
          <p:cNvPr id="12" name="Text 10"/>
          <p:cNvSpPr/>
          <p:nvPr/>
        </p:nvSpPr>
        <p:spPr>
          <a:xfrm>
            <a:off x="6519672" y="2103120"/>
            <a:ext cx="4937760" cy="2834640"/>
          </a:xfrm>
          <a:prstGeom prst="rect">
            <a:avLst/>
          </a:prstGeom>
          <a:noFill/>
          <a:ln/>
        </p:spPr>
        <p:txBody>
          <a:bodyPr wrap="square" rtlCol="0" anchor="t"/>
          <a:lstStyle/>
          <a:p>
            <a:pPr indent="0" marL="0">
              <a:buNone/>
            </a:pPr>
            <a:r>
              <a:rPr lang="en-US" sz="2000" dirty="0">
                <a:solidFill>
                  <a:srgbClr val="1C1C1A"/>
                </a:solidFill>
                <a:latin typeface="Calibri" pitchFamily="34" charset="0"/>
                <a:ea typeface="Calibri" pitchFamily="34" charset="-122"/>
                <a:cs typeface="Calibri" pitchFamily="34" charset="-120"/>
              </a:rPr>
              <a:t>An hour of casual backyard kick-to-kick with mates — no ref, rules made up as you go</a:t>
            </a:r>
            <a:endParaRPr lang="en-US" sz="2000" dirty="0"/>
          </a:p>
        </p:txBody>
      </p:sp>
      <p:sp>
        <p:nvSpPr>
          <p:cNvPr id="13" name="Text 11"/>
          <p:cNvSpPr/>
          <p:nvPr/>
        </p:nvSpPr>
        <p:spPr>
          <a:xfrm>
            <a:off x="182880" y="5349240"/>
            <a:ext cx="11878056" cy="548640"/>
          </a:xfrm>
          <a:prstGeom prst="rect">
            <a:avLst/>
          </a:prstGeom>
          <a:noFill/>
          <a:ln/>
        </p:spPr>
        <p:txBody>
          <a:bodyPr wrap="square" rtlCol="0" anchor="ctr"/>
          <a:lstStyle/>
          <a:p>
            <a:pPr algn="ctr" indent="0" marL="0">
              <a:buNone/>
            </a:pPr>
            <a:r>
              <a:rPr lang="en-US" sz="1800" dirty="0">
                <a:solidFill>
                  <a:srgbClr val="1C1C1A"/>
                </a:solidFill>
                <a:latin typeface="Calibri" pitchFamily="34" charset="0"/>
                <a:ea typeface="Calibri" pitchFamily="34" charset="-122"/>
                <a:cs typeface="Calibri" pitchFamily="34" charset="-120"/>
              </a:rPr>
              <a:t>Be ready to justify your choice — is one more 'active' than the other, or are they just different types of activity?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0F4C81"/>
          </a:solidFill>
          <a:ln w="12700">
            <a:solidFill>
              <a:srgbClr val="0F4C81"/>
            </a:solidFill>
            <a:prstDash val="solid"/>
          </a:ln>
        </p:spPr>
      </p:sp>
      <p:sp>
        <p:nvSpPr>
          <p:cNvPr id="3" name="Text 1"/>
          <p:cNvSpPr/>
          <p:nvPr/>
        </p:nvSpPr>
        <p:spPr>
          <a:xfrm>
            <a:off x="731520" y="2377440"/>
            <a:ext cx="10908792" cy="2011680"/>
          </a:xfrm>
          <a:prstGeom prst="rect">
            <a:avLst/>
          </a:prstGeom>
          <a:noFill/>
          <a:ln/>
        </p:spPr>
        <p:txBody>
          <a:bodyPr wrap="square" lIns="0" tIns="0" rIns="0" bIns="0" rtlCol="0" anchor="ctr"/>
          <a:lstStyle/>
          <a:p>
            <a:pPr algn="l" indent="0" marL="0">
              <a:buNone/>
            </a:pPr>
            <a:r>
              <a:rPr lang="en-US" sz="5200" b="1" dirty="0">
                <a:solidFill>
                  <a:srgbClr val="1C1C1A"/>
                </a:solidFill>
                <a:latin typeface="Calibri" pitchFamily="34" charset="0"/>
                <a:ea typeface="Calibri" pitchFamily="34" charset="-122"/>
                <a:cs typeface="Calibri" pitchFamily="34" charset="-120"/>
              </a:rPr>
              <a:t>Types of Physical Activity</a:t>
            </a:r>
            <a:endParaRPr lang="en-US" sz="5200" dirty="0"/>
          </a:p>
        </p:txBody>
      </p:sp>
      <p:sp>
        <p:nvSpPr>
          <p:cNvPr id="4" name="Text 2"/>
          <p:cNvSpPr/>
          <p:nvPr/>
        </p:nvSpPr>
        <p:spPr>
          <a:xfrm>
            <a:off x="731520" y="4663440"/>
            <a:ext cx="10908792" cy="365760"/>
          </a:xfrm>
          <a:prstGeom prst="rect">
            <a:avLst/>
          </a:prstGeom>
          <a:noFill/>
          <a:ln/>
        </p:spPr>
        <p:txBody>
          <a:bodyPr wrap="square" rtlCol="0" anchor="t"/>
          <a:lstStyle/>
          <a:p>
            <a:pPr algn="l" indent="0" marL="0">
              <a:buNone/>
            </a:pPr>
            <a:r>
              <a:rPr lang="en-US" sz="1800" dirty="0">
                <a:solidFill>
                  <a:srgbClr val="1C1C1A"/>
                </a:solidFill>
                <a:latin typeface="Calibri" pitchFamily="34" charset="0"/>
                <a:ea typeface="Calibri" pitchFamily="34" charset="-122"/>
                <a:cs typeface="Calibri" pitchFamily="34" charset="-120"/>
              </a:rPr>
              <a:t>Unit 2 AOS 1 — Physical Activity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INTENTIONS &amp; SUCCESS CRITERIA</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182880" y="640080"/>
            <a:ext cx="5803697" cy="5760720"/>
          </a:xfrm>
          <a:prstGeom prst="rect">
            <a:avLst/>
          </a:prstGeom>
          <a:solidFill>
            <a:srgbClr val="D6E4F0"/>
          </a:solidFill>
          <a:ln w="12700">
            <a:solidFill>
              <a:srgbClr val="0A3A63">
                <a:alpha val="30000"/>
              </a:srgbClr>
            </a:solidFill>
            <a:prstDash val="solid"/>
          </a:ln>
        </p:spPr>
      </p:sp>
      <p:sp>
        <p:nvSpPr>
          <p:cNvPr id="7" name="Shape 5"/>
          <p:cNvSpPr/>
          <p:nvPr/>
        </p:nvSpPr>
        <p:spPr>
          <a:xfrm>
            <a:off x="274320" y="731520"/>
            <a:ext cx="1581912" cy="292608"/>
          </a:xfrm>
          <a:prstGeom prst="rect">
            <a:avLst/>
          </a:prstGeom>
          <a:solidFill>
            <a:srgbClr val="0A3A63"/>
          </a:solidFill>
          <a:ln w="12700">
            <a:solidFill>
              <a:srgbClr val="0A3A63"/>
            </a:solidFill>
            <a:prstDash val="solid"/>
          </a:ln>
        </p:spPr>
      </p:sp>
      <p:sp>
        <p:nvSpPr>
          <p:cNvPr id="8" name="Text 6"/>
          <p:cNvSpPr/>
          <p:nvPr/>
        </p:nvSpPr>
        <p:spPr>
          <a:xfrm>
            <a:off x="274320" y="731520"/>
            <a:ext cx="1581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KNOWLEDGE</a:t>
            </a:r>
            <a:endParaRPr lang="en-US" sz="1200" dirty="0"/>
          </a:p>
        </p:txBody>
      </p:sp>
      <p:sp>
        <p:nvSpPr>
          <p:cNvPr id="9" name="Text 7"/>
          <p:cNvSpPr/>
          <p:nvPr/>
        </p:nvSpPr>
        <p:spPr>
          <a:xfrm>
            <a:off x="365760"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types of physical activity such as play, games, sports (formal and informal)</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transportation, chores, exercise and recreational activities</a:t>
            </a:r>
            <a:endParaRPr lang="en-US" sz="1800" dirty="0"/>
          </a:p>
        </p:txBody>
      </p:sp>
      <p:sp>
        <p:nvSpPr>
          <p:cNvPr id="10" name="Shape 8"/>
          <p:cNvSpPr/>
          <p:nvPr/>
        </p:nvSpPr>
        <p:spPr>
          <a:xfrm>
            <a:off x="6260897" y="640080"/>
            <a:ext cx="5803697" cy="5760720"/>
          </a:xfrm>
          <a:prstGeom prst="rect">
            <a:avLst/>
          </a:prstGeom>
          <a:solidFill>
            <a:srgbClr val="FBEEE4"/>
          </a:solidFill>
          <a:ln w="12700">
            <a:solidFill>
              <a:srgbClr val="0A3A63">
                <a:alpha val="30000"/>
              </a:srgbClr>
            </a:solidFill>
            <a:prstDash val="solid"/>
          </a:ln>
        </p:spPr>
      </p:sp>
      <p:sp>
        <p:nvSpPr>
          <p:cNvPr id="11" name="Shape 9"/>
          <p:cNvSpPr/>
          <p:nvPr/>
        </p:nvSpPr>
        <p:spPr>
          <a:xfrm>
            <a:off x="6352337" y="731520"/>
            <a:ext cx="1280160" cy="292608"/>
          </a:xfrm>
          <a:prstGeom prst="rect">
            <a:avLst/>
          </a:prstGeom>
          <a:solidFill>
            <a:srgbClr val="0A3A63"/>
          </a:solidFill>
          <a:ln w="12700">
            <a:solidFill>
              <a:srgbClr val="0A3A63"/>
            </a:solidFill>
            <a:prstDash val="solid"/>
          </a:ln>
        </p:spPr>
      </p:sp>
      <p:sp>
        <p:nvSpPr>
          <p:cNvPr id="12" name="Text 10"/>
          <p:cNvSpPr/>
          <p:nvPr/>
        </p:nvSpPr>
        <p:spPr>
          <a:xfrm>
            <a:off x="6352337" y="731520"/>
            <a:ext cx="12801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SKILLS</a:t>
            </a:r>
            <a:endParaRPr lang="en-US" sz="1200" dirty="0"/>
          </a:p>
        </p:txBody>
      </p:sp>
      <p:sp>
        <p:nvSpPr>
          <p:cNvPr id="13" name="Text 11"/>
          <p:cNvSpPr/>
          <p:nvPr/>
        </p:nvSpPr>
        <p:spPr>
          <a:xfrm>
            <a:off x="6443777"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participate in and explain different types of movement experiences</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including a variety of culturally diverse and inclusive physical activities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Play, Games &amp; Sport</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280160" cy="292608"/>
          </a:xfrm>
          <a:prstGeom prst="rect">
            <a:avLst/>
          </a:prstGeom>
          <a:solidFill>
            <a:srgbClr val="0A3A63"/>
          </a:solidFill>
          <a:ln w="12700">
            <a:solidFill>
              <a:srgbClr val="0A3A63"/>
            </a:solidFill>
            <a:prstDash val="solid"/>
          </a:ln>
        </p:spPr>
      </p:sp>
      <p:sp>
        <p:nvSpPr>
          <p:cNvPr id="8" name="Text 6"/>
          <p:cNvSpPr/>
          <p:nvPr/>
        </p:nvSpPr>
        <p:spPr>
          <a:xfrm>
            <a:off x="896112" y="1078992"/>
            <a:ext cx="12801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Physical activity ranges from unstructured play to highly organised sport, distinguished by rules, structure and purpose.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Play: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Spontaneous, flexible, intrinsically motivated — e.g. kicking a ball around with no rules or score.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Games: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Rules exist and it's goal-oriented but casual — e.g. tips or keepy-uppy at recess.</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Formal sport: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Highly organised, strict rules, competitive — e.g. a Saturday club soccer fixture with a referee.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Informal sport: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Self-organised, casual, flexible rules — e.g. street soccer or backyard kick-to-kick.</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Transport, Exercise, Chores &amp; Recreation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280160" cy="292608"/>
          </a:xfrm>
          <a:prstGeom prst="rect">
            <a:avLst/>
          </a:prstGeom>
          <a:solidFill>
            <a:srgbClr val="0A3A63"/>
          </a:solidFill>
          <a:ln w="12700">
            <a:solidFill>
              <a:srgbClr val="0A3A63"/>
            </a:solidFill>
            <a:prstDash val="solid"/>
          </a:ln>
        </p:spPr>
      </p:sp>
      <p:sp>
        <p:nvSpPr>
          <p:cNvPr id="8" name="Text 6"/>
          <p:cNvSpPr/>
          <p:nvPr/>
        </p:nvSpPr>
        <p:spPr>
          <a:xfrm>
            <a:off x="896112" y="1078992"/>
            <a:ext cx="12801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Beyond play and sport, physical activity also includes the practical and leisure movement built into everyday life.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Transport: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Practical, purpose-driven travel — e.g. walking or cycling to soccer training instead of a lift.</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Exercise: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Health-focused, routine exertion — e.g. a pre-season fitness session of running and weights.</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Chores: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Repetitive, task-oriented, necessary — e.g. carrying the team's kit bag and setting up goals.</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Recreation: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Relaxing, fun, done in leisure time — e.g. a casual beach kick-around or bike ride with friends.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15662F"/>
          </a:solidFill>
          <a:ln w="12700">
            <a:solidFill>
              <a:srgbClr val="15662F"/>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ACTIVITY — Sorting a Soccer Player's Week (15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A soccer player's week: club training, Saturday match, backyard kick-to-kick, walk to training, carrying kit bag, and a multicultural club's Friday social 5-a-side. Sort each into its type of activity and justify with one characteristic.</a:t>
            </a:r>
            <a:endParaRPr lang="en-US" sz="2400" dirty="0"/>
          </a:p>
          <a:p>
            <a:pPr indent="0" marL="0">
              <a:spcAft>
                <a:spcPts val="2400"/>
              </a:spcAft>
              <a:buNone/>
            </a:pPr>
            <a:r>
              <a:rPr lang="en-US" sz="1800" i="1" dirty="0">
                <a:solidFill>
                  <a:srgbClr val="0A3A63"/>
                </a:solidFill>
                <a:latin typeface="Calibri" pitchFamily="34" charset="0"/>
                <a:ea typeface="Calibri" pitchFamily="34" charset="-122"/>
                <a:cs typeface="Calibri" pitchFamily="34" charset="-120"/>
              </a:rPr>
              <a:t>📖 Table 7.1, pp. 240–241 — Jacaranda Live It Up VCE Units 1 &amp; 2</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SCAFFOLDING — USE WHAT YOU NEED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Structure: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Table: Activity | Type | Characteristic used as evidence. Work through one activity at a time.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Use these terms: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play, games, formal sport, informal sport, transportation, exercise, chores, recreational activity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Check you have: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 Named the correct type ✓ Gave one characteristic as evidence ✓ Used the actual soccer example given</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PRACTICE — Formal vs Informal Sport (4 marks,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078992" cy="292608"/>
          </a:xfrm>
          <a:prstGeom prst="rect">
            <a:avLst/>
          </a:prstGeom>
          <a:solidFill>
            <a:srgbClr val="0A3A63"/>
          </a:solidFill>
          <a:ln w="12700">
            <a:solidFill>
              <a:srgbClr val="0A3A63"/>
            </a:solidFill>
            <a:prstDash val="solid"/>
          </a:ln>
        </p:spPr>
      </p:sp>
      <p:sp>
        <p:nvSpPr>
          <p:cNvPr id="8" name="Text 6"/>
          <p:cNvSpPr/>
          <p:nvPr/>
        </p:nvSpPr>
        <p:spPr>
          <a:xfrm>
            <a:off x="896112" y="1078992"/>
            <a:ext cx="107899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2400"/>
              </a:spcAft>
              <a:buNone/>
            </a:pPr>
            <a:r>
              <a:rPr lang="en-US" sz="2400" b="1" dirty="0">
                <a:solidFill>
                  <a:srgbClr val="1C1C1A"/>
                </a:solidFill>
                <a:latin typeface="Calibri" pitchFamily="34" charset="0"/>
                <a:ea typeface="Calibri" pitchFamily="34" charset="-122"/>
                <a:cs typeface="Calibri" pitchFamily="34" charset="-120"/>
              </a:rPr>
              <a:t>Using soccer as your example, outline TWO differences between a formal sport and an informal sport.</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HOW TO APPROACH</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Outline = state each difference briefly — one clear point per difference, no lengthy explanation.</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Pick ONE feature per difference (e.g. officiating, venue) and contrast formal vs informal for each.</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Anchor each point to soccer — name a specific example, not 'a sport' in general.</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PRACTICE — Modelled Answer (4 marks)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783080" cy="292608"/>
          </a:xfrm>
          <a:prstGeom prst="rect">
            <a:avLst/>
          </a:prstGeom>
          <a:solidFill>
            <a:srgbClr val="0A3A63"/>
          </a:solidFill>
          <a:ln w="12700">
            <a:solidFill>
              <a:srgbClr val="0A3A63"/>
            </a:solidFill>
            <a:prstDash val="solid"/>
          </a:ln>
        </p:spPr>
      </p:sp>
      <p:sp>
        <p:nvSpPr>
          <p:cNvPr id="8" name="Text 6"/>
          <p:cNvSpPr/>
          <p:nvPr/>
        </p:nvSpPr>
        <p:spPr>
          <a:xfrm>
            <a:off x="896112" y="1078992"/>
            <a:ext cx="1783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MODELLED ANSWER</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800"/>
              </a:spcAft>
              <a:buNone/>
            </a:pPr>
            <a:r>
              <a:rPr lang="en-US" sz="1800" dirty="0">
                <a:solidFill>
                  <a:srgbClr val="1C1C1A"/>
                </a:solidFill>
                <a:latin typeface="Calibri" pitchFamily="34" charset="0"/>
                <a:ea typeface="Calibri" pitchFamily="34" charset="-122"/>
                <a:cs typeface="Calibri" pitchFamily="34" charset="-120"/>
              </a:rPr>
              <a:t>Formal soccer, like a club match, is run by a referee who enforces official rules. It's played on a set pitch with marked boundaries. Informal soccer, like a backyard kick-to-kick, has no referee, so players make up and change the rules themselves. It can be played anywhere, like a driveway, with no pitch markings.</a:t>
            </a:r>
            <a:endParaRPr lang="en-US" sz="18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MARKS AWARDED FOR</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Identifies a difference in officiating/rules (1 mark)</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Links the officiating difference to a soccer example (1 mark)</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Identifies a difference in venue/pitch marking (1 mark)</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Links the venue difference to a soccer example (1 mark)</a:t>
            </a:r>
            <a:endParaRPr lang="en-US" sz="1800" dirty="0"/>
          </a:p>
          <a:p>
            <a:pPr indent="0" marL="0">
              <a:buNone/>
            </a:pPr>
            <a:r>
              <a:rPr lang="en-US" sz="1800" i="1" dirty="0">
                <a:solidFill>
                  <a:srgbClr val="5A1A5A"/>
                </a:solidFill>
                <a:latin typeface="Calibri" pitchFamily="34" charset="0"/>
                <a:ea typeface="Calibri" pitchFamily="34" charset="-122"/>
                <a:cs typeface="Calibri" pitchFamily="34" charset="-120"/>
              </a:rPr>
              <a:t>Common error: Students say 'informal is more fun' — that's an opinion, not a structural difference a marker can award.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YOU DO — Classify Your Own Week of Activity (15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1097280"/>
            <a:ext cx="10725912" cy="502920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Text 5"/>
          <p:cNvSpPr/>
          <p:nvPr/>
        </p:nvSpPr>
        <p:spPr>
          <a:xfrm>
            <a:off x="896112" y="1280160"/>
            <a:ext cx="10396728" cy="4663440"/>
          </a:xfrm>
          <a:prstGeom prst="rect">
            <a:avLst/>
          </a:prstGeom>
          <a:noFill/>
          <a:ln/>
        </p:spPr>
        <p:txBody>
          <a:bodyPr wrap="square" rtlCol="0" anchor="ctr"/>
          <a:lstStyle/>
          <a:p>
            <a:pPr algn="ctr" indent="0" marL="0">
              <a:spcAft>
                <a:spcPts val="1800"/>
              </a:spcAft>
              <a:buNone/>
            </a:pPr>
            <a:r>
              <a:rPr lang="en-US" sz="2800" b="1" dirty="0">
                <a:solidFill>
                  <a:srgbClr val="1C1C1A"/>
                </a:solidFill>
                <a:latin typeface="Calibri" pitchFamily="34" charset="0"/>
                <a:ea typeface="Calibri" pitchFamily="34" charset="-122"/>
                <a:cs typeface="Calibri" pitchFamily="34" charset="-120"/>
              </a:rPr>
              <a:t>Open the Challenge Continuum task on the portal</a:t>
            </a:r>
            <a:endParaRPr lang="en-US" sz="2800" dirty="0"/>
          </a:p>
          <a:p>
            <a:pPr algn="ctr" indent="0" marL="0">
              <a:spcAft>
                <a:spcPts val="1800"/>
              </a:spcAft>
              <a:buNone/>
            </a:pPr>
            <a:r>
              <a:rPr lang="en-US" sz="2200" dirty="0">
                <a:solidFill>
                  <a:srgbClr val="0A3A63"/>
                </a:solidFill>
                <a:latin typeface="Calibri" pitchFamily="34" charset="0"/>
                <a:ea typeface="Calibri" pitchFamily="34" charset="-122"/>
                <a:cs typeface="Calibri" pitchFamily="34" charset="-120"/>
              </a:rPr>
              <a:t>Classify Your Own Week of Activity</a:t>
            </a:r>
            <a:endParaRPr lang="en-US" sz="2800" dirty="0"/>
          </a:p>
          <a:p>
            <a:pPr algn="ctr" indent="0" marL="0">
              <a:buNone/>
            </a:pPr>
            <a:r>
              <a:rPr lang="en-US" sz="2000" i="1" dirty="0">
                <a:solidFill>
                  <a:srgbClr val="1C1C1A"/>
                </a:solidFill>
                <a:latin typeface="Calibri" pitchFamily="34" charset="0"/>
                <a:ea typeface="Calibri" pitchFamily="34" charset="-122"/>
                <a:cs typeface="Calibri" pitchFamily="34" charset="-120"/>
              </a:rPr>
              <a:t>15 minutes</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EXIT CARD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Name the type of physical activity for a Saturday club soccer match, and for a kick-to-kick with mates.</a:t>
            </a:r>
            <a:endParaRPr lang="en-US" sz="2400" dirty="0"/>
          </a:p>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Give ONE difference between exercise and recreational activity, using a soccer example.</a:t>
            </a:r>
            <a:endParaRPr lang="en-US" sz="2400" dirty="0"/>
          </a:p>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Which type of physical activity is walking to soccer training? Justify your answer in one sentence.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81"/>
        </a:solidFill>
      </p:bgPr>
    </p:bg>
    <p:spTree>
      <p:nvGrpSpPr>
        <p:cNvPr id="1" name=""/>
        <p:cNvGrpSpPr/>
        <p:nvPr/>
      </p:nvGrpSpPr>
      <p:grpSpPr>
        <a:xfrm>
          <a:off x="0" y="0"/>
          <a:ext cx="0" cy="0"/>
          <a:chOff x="0" y="0"/>
          <a:chExt cx="0" cy="0"/>
        </a:xfrm>
      </p:grpSpPr>
      <p:sp>
        <p:nvSpPr>
          <p:cNvPr id="2" name="Shape 0"/>
          <p:cNvSpPr/>
          <p:nvPr/>
        </p:nvSpPr>
        <p:spPr>
          <a:xfrm>
            <a:off x="731520" y="548640"/>
            <a:ext cx="10725912" cy="5760720"/>
          </a:xfrm>
          <a:prstGeom prst="rect">
            <a:avLst/>
          </a:prstGeom>
          <a:solidFill>
            <a:srgbClr val="FFFFFF"/>
          </a:solidFill>
          <a:ln w="12700">
            <a:solidFill>
              <a:srgbClr val="FFFFFF"/>
            </a:solidFill>
            <a:prstDash val="solid"/>
          </a:ln>
          <a:effectLst>
            <a:outerShdw sx="100000" sy="100000" kx="0" ky="0" algn="bl" rotWithShape="0" blurRad="76200" dist="38100" dir="8100000">
              <a:srgbClr val="000000">
                <a:alpha val="12000"/>
              </a:srgbClr>
            </a:outerShdw>
          </a:effectLst>
        </p:spPr>
      </p:sp>
      <p:sp>
        <p:nvSpPr>
          <p:cNvPr id="3" name="Shape 1"/>
          <p:cNvSpPr/>
          <p:nvPr/>
        </p:nvSpPr>
        <p:spPr>
          <a:xfrm>
            <a:off x="896112" y="768096"/>
            <a:ext cx="2185416" cy="292608"/>
          </a:xfrm>
          <a:prstGeom prst="rect">
            <a:avLst/>
          </a:prstGeom>
          <a:solidFill>
            <a:srgbClr val="0A3A63"/>
          </a:solidFill>
          <a:ln w="12700">
            <a:solidFill>
              <a:srgbClr val="0A3A63"/>
            </a:solidFill>
            <a:prstDash val="solid"/>
          </a:ln>
        </p:spPr>
      </p:sp>
      <p:sp>
        <p:nvSpPr>
          <p:cNvPr id="4" name="Text 2"/>
          <p:cNvSpPr/>
          <p:nvPr/>
        </p:nvSpPr>
        <p:spPr>
          <a:xfrm>
            <a:off x="896112" y="768096"/>
            <a:ext cx="2185416"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 SHOULD NOW KNOW</a:t>
            </a:r>
            <a:endParaRPr lang="en-US" sz="1200" dirty="0"/>
          </a:p>
        </p:txBody>
      </p:sp>
      <p:sp>
        <p:nvSpPr>
          <p:cNvPr id="5" name="Text 3"/>
          <p:cNvSpPr/>
          <p:nvPr/>
        </p:nvSpPr>
        <p:spPr>
          <a:xfrm>
            <a:off x="896112" y="1207008"/>
            <a:ext cx="10396728" cy="4937760"/>
          </a:xfrm>
          <a:prstGeom prst="rect">
            <a:avLst/>
          </a:prstGeom>
          <a:noFill/>
          <a:ln/>
        </p:spPr>
        <p:txBody>
          <a:bodyPr wrap="square" rtlCol="0" anchor="t"/>
          <a:lstStyle/>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types of physical activity such as play, games, sports (formal and informal)</a:t>
            </a:r>
            <a:endParaRPr lang="en-US" sz="2000" dirty="0"/>
          </a:p>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transportation, chores, exercise and recreational activities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Physical Activity</dc:title>
  <dc:subject>PptxGenJS Presentation</dc:subject>
  <dc:creator>PptxGenJS</dc:creator>
  <cp:lastModifiedBy>PptxGenJS</cp:lastModifiedBy>
  <cp:revision>1</cp:revision>
  <dcterms:created xsi:type="dcterms:W3CDTF">2026-07-13T05:21:40Z</dcterms:created>
  <dcterms:modified xsi:type="dcterms:W3CDTF">2026-07-13T05:21:40Z</dcterms:modified>
</cp:coreProperties>
</file>