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positions: cost of gear/fees, friends moved on to other things, no one to drive them, lost interest, injury, moved suburbs. Follow-up probes: 'Was that about you, or about the people/situation around you?' 'Could someone else have changed that outcome?' Cold-call three students with different reasons (personal, social, financial) to seed today's categories. Link: today's lesson names these reasons as sociocultural enablers and barriers — what they just described in their own words has a technical vocabulary we're about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of the Unit 2 AOS 1 sequence (7.2 types → 7.3 benefits → 7.4 sociocultural factors, today). Recap one-liner: 'Last lesson we covered the physical, social, mental, emotional and spiritual benefits of activity — today we ask why some people get those benefits and others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Plain-English: KK1 — some things in our lives push us towards being active, some things push us away, and it's rarely about 'willpower' alone. KK2 — the six named factors are the ones VCAA examines; today covers all six via three I DO slides (family+peers, gender+SES, cultural norms+community). KS is enacted through the AFL scenarios in the LEARNING ACTIVITY and YOU DO tasks, not through a separate practical session this lesson. Note for the deck author: the VCAA KK/KS wording for this subtopic each exceed the 110-char LIS item limit as single sentences; each is split at its natural clause boundary (KK at 'such as', KS at 'across the lifespan') with no words added, removed or reordered — flagged here per authoring discipline rather than silently truncated.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Thematic — family and peers grouped as 'the people closest to you'. HITS: Explicit Teaching, Multiple Exposures. 5Ps: Pedagogical Practice. AFL anchor: a Year 8 who joins the local club because a parent played there and a friend group already trains together — both enabling at once. Anticipated misconception: students think only barriers are external; stress that the SAME factor (family, peers) can be enabler or barrier depending on the specific attitude/behaviour, not the category itself. Cold-call after bullet 2: 'Can peers ever be a barrier even if they're not being mean about it?' (yes — undervaluing activity, e.g. preferring screen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HITS: Worked Examples, Questioning. 5Ps: Participation (every student produces four distinct points), Purposeful Technology (optional — mini-whiteboards for cold-call reveal). Circulate for: students naming a factor without explaining WHY it enables/limits Chloe specifically (e.g. just writing 'peers' with no mechanism). Common error: treating 'no family role models' and 'friends not interested' as the same point twice — push students to separate family from peers explicitly. Cold-call two pairs to share one enabler and one barrier each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Thematic — gender and SES grouped as 'things about you and your circumstances, not about the people around you'. HITS: Explicit Teaching, Dual Coding (pair with Table 7.4/7.5 style enabler-barrier contrast on the board). 5Ps: Pedagogical Practice. AFL anchor: AFLW didn't exist until 2017 — a direct historical example of a gender barrier being actively removed at a structural level, not just an individual one. Anticipated misconception: students conflate SES with 'poor people don't like sport' — correct explicitly: SES is about access (cost, time, transport), not motivation or interest. Cold-call: 'Is SES about how much money a family has, or how much a family values sport?' (the former — SES is access, not attitude).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Thematic — cultural norms and community grouped as 'the wider environment you live in'. HITS: Explicit Teaching, Multiple Exposures. 5Ps: Purposeful Technology (show AFL multicultural round imagery if available). AFL anchor: Bachar Houli praying during training is a structural enabler — the club adjusted its program rather than asking him to fit in unchanged. Anticipated misconception: students think 'community' just means 'where you live' geographically — clarify it also includes safety, facility availability, and whether enough people locally play that sport. Cold-call: 'Why would AFL be an easier sport to take up in regional Victoria than rugby league?' (regional preference/availability — community enabler).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HITS: Multiple Exposures, Collaborative Learning. 5Ps: Play (students choose their own factor pairing), Participation. Circulate for: students defaulting to the same factor pair (gender + SES is the obvious pick) — explicitly encourage at least two pairs in the room to try cultural norms + community for variety, since those are less rehearsed. Common error: describing only the barrier and forgetting the enabler side of the SAME factor (e.g. SES only as cost, not also as access when income is higher). Reveal 2 contrasting factor pairs from the room before moving to the exam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VCAA definition: give an account of the characteristics or features of something. What it demands: naming the factor AND at least one detail about how it operates — no causal reasoning required (that's Explain). Pedagogical focus: this is Slot L4 of the AOS command-term cycle (Consolidating tier), first step into elaborated responses after the Acquiring cluster (Identify/Define/State). Mark signal for students: if your answer could be replaced by a single vocabulary word, it's not a Describe answer yet. Source: ACHPER and VCAA exam reports repeatedly flag single-word sociocultural-factor answers as the most common mark loss in this AOS. Run as a We Do — model the wrong answer, ask the class to fix it verbally, then reveal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6-minute individual attempt, silent. Circulate for students who write 'low income' with no further elaboration — prompt with 'What specific thing costs money in an AFL season?' Slide 2: reveal the model one sentence at a time. Emphasise mark point 4 explicitly — this is the same error targeted in the EXAM TIP two slides ago, so this is the retrieval-practice moment for that technique. Source: SES-as-barrier questions appear across ACHPER Unit 2 trial exams; common error pattern sourced from exam-report commentary on one-word sociocultural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6-minute individual attempt, silent. Circulate for students who write 'low income' with no further elaboration — prompt with 'What specific thing costs money in an AFL season?' Slide 2: reveal the model one sentence at a time. Emphasise mark point 4 explicitly — this is the same error targeted in the EXAM TIP two slides ago, so this is the retrieval-practice moment for that technique. Source: SES-as-barrier questions appear across ACHPER Unit 2 trial exams; common error pattern sourced from exam-report commentary on one-word sociocultural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Continuum task: Enablers &amp; Barriers — Your Sport
ACQUIRING:     Acquiring: Choose ONE sociocultural factor (family, peers, gender, SES, community or cultural norms). Identify ONE enabler and ONE barrier it could create for someone starting AFL (or your own sport).
CONSOLIDATING: Consolidating: Choose ONE sociocultural factor. Describe how it could act as BOTH an enabler and a barrier for a Year 9 student starting AFL (or your own sport), using full sentences.
REFINING:      Refining: Choose TWO sociocultural factors. Explain how each could enable AND limit participation in AFL for a teenager from a low-income family, linking your answer to specific examples.
EXTENDING:     Extending: Discuss how THREE sociocultural factors interact to shape whether a teenage girl from a non-English-speaking family takes up AFLW. Consider both enablers and barriers together.
MASTERING:     Mastering: A local council wants to increase AFL participation among a specific under-represented group (e.g. girls, low-SES families, First Nations students). Design and justify TWO strategies, explaining which sociocultural barriers each strategy removes.
Teacher prompts: after 5 min check level selection; half-time prompt early finishers up a level; final 5 min students capture evidence.
Portal companion output required. Differentiation note: Acquiring/Consolidating students keep the I DO slides visible for factor definitions; Refining students work from notes only; Extending/Mastering students work from memory with textbook as a check. Mastering is the most demanding task on the continuum — it moves from analysing a barrier to designing a real intervention, previewing Unit 4-style policy reasoning. Monitor Acquiring students for factor confusion (mixing up gender and cultural norms is the most common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checks KK1+KK2 (any two of family, peers, gender, SES, community, cultural norms — award full marks for any correct pair with brief reasoning). Q2 checks KS (applying a factor to a specific scenario) — answer: barrier, because the peer group undervalues physical activity and models sedentary behaviour, which the student is likely to mirror. Q3 checks sport-context application — accept any realistic strategy: fee waivers/subsidies, second-hand gear pool, flexible payment plans, free come-and-try sessions. Reteach trigger: if more than 30% cannot name two distinct factors in Q1, run a rapid factor-recall retrieval starter at the top of the next lesson before moving to 7.5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Auto-pulls KK from the LIS slide. Closing script: 'Every one of these six factors can flip between enabler and barrier depending on the specific situation — that's the exam trap. Never just name the factor; say which way it's pushing and why.' Connection to next lesson: 7.5 moves from WHY people are or aren't active to WHAT the actual activity guidelines say for each age group — today's barriers explain part of why so few Australians meet them. Reteach flags: note here after teaching which of the six factors students found hardest to apply (commonly cultural norms, since it's the most abstract of the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EEE4"/>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DO NOW — complete on entry, in pairs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1828800" y="1280160"/>
            <a:ext cx="8531352" cy="3657600"/>
          </a:xfrm>
          <a:prstGeom prst="rect">
            <a:avLst/>
          </a:prstGeom>
          <a:solidFill>
            <a:srgbClr val="FFFFFF"/>
          </a:solidFill>
          <a:ln w="25400">
            <a:solidFill>
              <a:srgbClr val="8A3210"/>
            </a:solidFill>
            <a:prstDash val="solid"/>
          </a:ln>
        </p:spPr>
      </p:sp>
      <p:sp>
        <p:nvSpPr>
          <p:cNvPr id="7" name="Text 5"/>
          <p:cNvSpPr/>
          <p:nvPr/>
        </p:nvSpPr>
        <p:spPr>
          <a:xfrm>
            <a:off x="2011680" y="1371600"/>
            <a:ext cx="8165592" cy="3474720"/>
          </a:xfrm>
          <a:prstGeom prst="rect">
            <a:avLst/>
          </a:prstGeom>
          <a:noFill/>
          <a:ln/>
        </p:spPr>
        <p:txBody>
          <a:bodyPr wrap="square" rtlCol="0" anchor="ctr"/>
          <a:lstStyle/>
          <a:p>
            <a:pPr algn="ctr" indent="0" marL="0">
              <a:buNone/>
            </a:pPr>
            <a:r>
              <a:rPr lang="en-US" sz="2400" dirty="0">
                <a:solidFill>
                  <a:srgbClr val="1C1C1A"/>
                </a:solidFill>
                <a:latin typeface="Calibri" pitchFamily="34" charset="0"/>
                <a:ea typeface="Calibri" pitchFamily="34" charset="-122"/>
                <a:cs typeface="Calibri" pitchFamily="34" charset="-120"/>
              </a:rPr>
              <a:t>Think of a sport or activity you used to do but stopped. What made you stop — and what might have kept you going?</a:t>
            </a:r>
            <a:endParaRPr lang="en-US" sz="2400" dirty="0"/>
          </a:p>
        </p:txBody>
      </p:sp>
      <p:sp>
        <p:nvSpPr>
          <p:cNvPr id="8" name="Text 6"/>
          <p:cNvSpPr/>
          <p:nvPr/>
        </p:nvSpPr>
        <p:spPr>
          <a:xfrm>
            <a:off x="182880" y="5212080"/>
            <a:ext cx="11878056" cy="548640"/>
          </a:xfrm>
          <a:prstGeom prst="rect">
            <a:avLst/>
          </a:prstGeom>
          <a:noFill/>
          <a:ln/>
        </p:spPr>
        <p:txBody>
          <a:bodyPr wrap="square" rtlCol="0" anchor="t"/>
          <a:lstStyle/>
          <a:p>
            <a:pPr algn="ctr" indent="0" marL="0">
              <a:buNone/>
            </a:pPr>
            <a:r>
              <a:rPr lang="en-US" sz="1800" dirty="0">
                <a:solidFill>
                  <a:srgbClr val="0A3A63"/>
                </a:solidFill>
                <a:latin typeface="Calibri" pitchFamily="34" charset="0"/>
                <a:ea typeface="Calibri" pitchFamily="34" charset="-122"/>
                <a:cs typeface="Calibri" pitchFamily="34" charset="-120"/>
              </a:rPr>
              <a:t>Think individually (90s) → share with partner → ready to share with class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0F4C81"/>
          </a:solidFill>
          <a:ln w="12700">
            <a:solidFill>
              <a:srgbClr val="0F4C81"/>
            </a:solidFill>
            <a:prstDash val="solid"/>
          </a:ln>
        </p:spPr>
      </p:sp>
      <p:sp>
        <p:nvSpPr>
          <p:cNvPr id="3" name="Text 1"/>
          <p:cNvSpPr/>
          <p:nvPr/>
        </p:nvSpPr>
        <p:spPr>
          <a:xfrm>
            <a:off x="731520" y="2377440"/>
            <a:ext cx="10908792" cy="2011680"/>
          </a:xfrm>
          <a:prstGeom prst="rect">
            <a:avLst/>
          </a:prstGeom>
          <a:noFill/>
          <a:ln/>
        </p:spPr>
        <p:txBody>
          <a:bodyPr wrap="square" lIns="0" tIns="0" rIns="0" bIns="0" rtlCol="0" anchor="ctr"/>
          <a:lstStyle/>
          <a:p>
            <a:pPr algn="l" indent="0" marL="0">
              <a:buNone/>
            </a:pPr>
            <a:r>
              <a:rPr lang="en-US" sz="5200" b="1" dirty="0">
                <a:solidFill>
                  <a:srgbClr val="1C1C1A"/>
                </a:solidFill>
                <a:latin typeface="Calibri" pitchFamily="34" charset="0"/>
                <a:ea typeface="Calibri" pitchFamily="34" charset="-122"/>
                <a:cs typeface="Calibri" pitchFamily="34" charset="-120"/>
              </a:rPr>
              <a:t>Sociocultural Enablers and Barriers to Physical Activity</a:t>
            </a:r>
            <a:endParaRPr lang="en-US" sz="5200" dirty="0"/>
          </a:p>
        </p:txBody>
      </p:sp>
      <p:sp>
        <p:nvSpPr>
          <p:cNvPr id="4" name="Text 2"/>
          <p:cNvSpPr/>
          <p:nvPr/>
        </p:nvSpPr>
        <p:spPr>
          <a:xfrm>
            <a:off x="731520" y="4663440"/>
            <a:ext cx="10908792" cy="365760"/>
          </a:xfrm>
          <a:prstGeom prst="rect">
            <a:avLst/>
          </a:prstGeom>
          <a:noFill/>
          <a:ln/>
        </p:spPr>
        <p:txBody>
          <a:bodyPr wrap="square" rtlCol="0" anchor="t"/>
          <a:lstStyle/>
          <a:p>
            <a:pPr algn="l" indent="0" marL="0">
              <a:buNone/>
            </a:pPr>
            <a:r>
              <a:rPr lang="en-US" sz="1800" dirty="0">
                <a:solidFill>
                  <a:srgbClr val="1C1C1A"/>
                </a:solidFill>
                <a:latin typeface="Calibri" pitchFamily="34" charset="0"/>
                <a:ea typeface="Calibri" pitchFamily="34" charset="-122"/>
                <a:cs typeface="Calibri" pitchFamily="34" charset="-120"/>
              </a:rPr>
              <a:t>Unit 2 AOS 1 — Sociocultural Influences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INTENTIONS &amp; SUCCESS CRITERIA</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182880" y="640080"/>
            <a:ext cx="5803697" cy="5760720"/>
          </a:xfrm>
          <a:prstGeom prst="rect">
            <a:avLst/>
          </a:prstGeom>
          <a:solidFill>
            <a:srgbClr val="D6E4F0"/>
          </a:solidFill>
          <a:ln w="12700">
            <a:solidFill>
              <a:srgbClr val="0A3A63">
                <a:alpha val="30000"/>
              </a:srgbClr>
            </a:solidFill>
            <a:prstDash val="solid"/>
          </a:ln>
        </p:spPr>
      </p:sp>
      <p:sp>
        <p:nvSpPr>
          <p:cNvPr id="7" name="Shape 5"/>
          <p:cNvSpPr/>
          <p:nvPr/>
        </p:nvSpPr>
        <p:spPr>
          <a:xfrm>
            <a:off x="274320" y="731520"/>
            <a:ext cx="1581912" cy="292608"/>
          </a:xfrm>
          <a:prstGeom prst="rect">
            <a:avLst/>
          </a:prstGeom>
          <a:solidFill>
            <a:srgbClr val="0A3A63"/>
          </a:solidFill>
          <a:ln w="12700">
            <a:solidFill>
              <a:srgbClr val="0A3A63"/>
            </a:solidFill>
            <a:prstDash val="solid"/>
          </a:ln>
        </p:spPr>
      </p:sp>
      <p:sp>
        <p:nvSpPr>
          <p:cNvPr id="8" name="Text 6"/>
          <p:cNvSpPr/>
          <p:nvPr/>
        </p:nvSpPr>
        <p:spPr>
          <a:xfrm>
            <a:off x="274320" y="731520"/>
            <a:ext cx="1581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KNOWLEDGE</a:t>
            </a:r>
            <a:endParaRPr lang="en-US" sz="1200" dirty="0"/>
          </a:p>
        </p:txBody>
      </p:sp>
      <p:sp>
        <p:nvSpPr>
          <p:cNvPr id="9" name="Text 7"/>
          <p:cNvSpPr/>
          <p:nvPr/>
        </p:nvSpPr>
        <p:spPr>
          <a:xfrm>
            <a:off x="365760"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sociocultural enablers and barriers to individual physical activity behaviour</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such as gender, family, peers, socioeconomic status, community and cultural norms</a:t>
            </a:r>
            <a:endParaRPr lang="en-US" sz="1800" dirty="0"/>
          </a:p>
        </p:txBody>
      </p:sp>
      <p:sp>
        <p:nvSpPr>
          <p:cNvPr id="10" name="Shape 8"/>
          <p:cNvSpPr/>
          <p:nvPr/>
        </p:nvSpPr>
        <p:spPr>
          <a:xfrm>
            <a:off x="6260897" y="640080"/>
            <a:ext cx="5803697" cy="5760720"/>
          </a:xfrm>
          <a:prstGeom prst="rect">
            <a:avLst/>
          </a:prstGeom>
          <a:solidFill>
            <a:srgbClr val="FBEEE4"/>
          </a:solidFill>
          <a:ln w="12700">
            <a:solidFill>
              <a:srgbClr val="0A3A63">
                <a:alpha val="30000"/>
              </a:srgbClr>
            </a:solidFill>
            <a:prstDash val="solid"/>
          </a:ln>
        </p:spPr>
      </p:sp>
      <p:sp>
        <p:nvSpPr>
          <p:cNvPr id="11" name="Shape 9"/>
          <p:cNvSpPr/>
          <p:nvPr/>
        </p:nvSpPr>
        <p:spPr>
          <a:xfrm>
            <a:off x="6352337" y="731520"/>
            <a:ext cx="1280160" cy="292608"/>
          </a:xfrm>
          <a:prstGeom prst="rect">
            <a:avLst/>
          </a:prstGeom>
          <a:solidFill>
            <a:srgbClr val="0A3A63"/>
          </a:solidFill>
          <a:ln w="12700">
            <a:solidFill>
              <a:srgbClr val="0A3A63"/>
            </a:solidFill>
            <a:prstDash val="solid"/>
          </a:ln>
        </p:spPr>
      </p:sp>
      <p:sp>
        <p:nvSpPr>
          <p:cNvPr id="12" name="Text 10"/>
          <p:cNvSpPr/>
          <p:nvPr/>
        </p:nvSpPr>
        <p:spPr>
          <a:xfrm>
            <a:off x="6352337" y="731520"/>
            <a:ext cx="12801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SKILLS</a:t>
            </a:r>
            <a:endParaRPr lang="en-US" sz="1200" dirty="0"/>
          </a:p>
        </p:txBody>
      </p:sp>
      <p:sp>
        <p:nvSpPr>
          <p:cNvPr id="13" name="Text 11"/>
          <p:cNvSpPr/>
          <p:nvPr/>
        </p:nvSpPr>
        <p:spPr>
          <a:xfrm>
            <a:off x="6443777"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investigate, through participation, the sociocultural influences on physical activity behaviour</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across the lifespan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Enablers &amp; Barriers — Family and Peers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sp>
      <p:sp>
        <p:nvSpPr>
          <p:cNvPr id="8" name="Text 6"/>
          <p:cNvSpPr/>
          <p:nvPr/>
        </p:nvSpPr>
        <p:spPr>
          <a:xfrm>
            <a:off x="896112" y="1078992"/>
            <a:ext cx="1380744"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Family and peers are closest to us — their attitudes and actions can make physical activity easier (an enabler) or harder (a barrier) to do.</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Enabler: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A parent who drives to AFL training or coaches the team makes activity easier.</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Barrier: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No family role models, or friends who prefer gaming to footy, make it harder to start playing.</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Family: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Active parents and siblings model behaviour, provide transport and gear, and create opportunities to play.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Peers: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A supportive AFL friendship group boosts motivation; excluding less-skilled players can push them away.</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ACTIVITY — Family &amp; Peers — AFL Club Scenario (15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2400"/>
              </a:spcAft>
              <a:buNone/>
            </a:pPr>
            <a:r>
              <a:rPr lang="en-US" sz="2400" b="1" dirty="0">
                <a:solidFill>
                  <a:srgbClr val="1C1C1A"/>
                </a:solidFill>
                <a:latin typeface="Calibri" pitchFamily="34" charset="0"/>
                <a:ea typeface="Calibri" pitchFamily="34" charset="-122"/>
                <a:cs typeface="Calibri" pitchFamily="34" charset="-120"/>
              </a:rPr>
              <a:t>Chloe wants to join her local AFL club, but her parents don't follow sport and her friends aren't interested. Identify TWO enablers and TWO barriers to Chloe joining, using the sociocultural factors of family and peers.</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Use these terms: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enabler, barrier, role model, encouragement, social exclusion</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Start with: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One enabler for Chloe could be... One barrier for Chloe could be...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Structure: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For each factor: name it → state enabler or barrier → explain why, using Chloe's situation.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Enablers &amp; Barriers — Gender and SES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sp>
      <p:sp>
        <p:nvSpPr>
          <p:cNvPr id="8" name="Text 6"/>
          <p:cNvSpPr/>
          <p:nvPr/>
        </p:nvSpPr>
        <p:spPr>
          <a:xfrm>
            <a:off x="896112" y="1078992"/>
            <a:ext cx="1380744"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Gender and socioeconomic status (SES) are personal characteristics that can widen or limit access to physical activity, including AFL.</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Gender: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Girls have historically been steered away from AFL as a 'boys' sport'; AFLW's growth is challenging that barrier.</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SES: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Higher income affords club fees, boots and travel to training; lower income can be a real barrier to joining a club.</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Enablers &amp; Barriers — Culture and Community</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sp>
      <p:sp>
        <p:nvSpPr>
          <p:cNvPr id="8" name="Text 6"/>
          <p:cNvSpPr/>
          <p:nvPr/>
        </p:nvSpPr>
        <p:spPr>
          <a:xfrm>
            <a:off x="896112" y="1078992"/>
            <a:ext cx="1380744"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Cultural norms and the local community shape which sports feel welcoming, accessible and 'normal' to play.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Cultural norms: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AFL's multicultural round and flexible training for prayer (e.g. Bachar Houli) remove cultural barriers.</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Community: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AFL is Victoria's dominant code, so clubs and coaches are easy to find; areas with fewer players struggle to field a team.</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ACTIVITY — Gender, SES, Culture &amp; Community (20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2400"/>
              </a:spcAft>
              <a:buNone/>
            </a:pPr>
            <a:r>
              <a:rPr lang="en-US" sz="2400" b="1" dirty="0">
                <a:solidFill>
                  <a:srgbClr val="1C1C1A"/>
                </a:solidFill>
                <a:latin typeface="Calibri" pitchFamily="34" charset="0"/>
                <a:ea typeface="Calibri" pitchFamily="34" charset="-122"/>
                <a:cs typeface="Calibri" pitchFamily="34" charset="-120"/>
              </a:rPr>
              <a:t>Amelia, 15, wants to start playing AFLW at a new club across town. Choose TWO factors from gender, socioeconomic status, cultural norms and community. For each, explain how it could be an enabler AND a barrier to Amelia joining.</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Structure: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Pick 2 factors. For each: Enabler — how it helps → Barrier — how it hinders → link both to Amelia's situation.</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Check you have: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 Named 2 factors ✓ Explained an enabler for each ✓ Explained a barrier for each ✓ Used AFLW example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Worked start: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SES enabler: her family can afford club fees and boots, so...</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TIP — Answering 'Describe' Questions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sp>
      <p:sp>
        <p:nvSpPr>
          <p:cNvPr id="8" name="Text 6"/>
          <p:cNvSpPr/>
          <p:nvPr/>
        </p:nvSpPr>
        <p:spPr>
          <a:xfrm>
            <a:off x="896112" y="1078992"/>
            <a:ext cx="107899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EXAM TIP</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800"/>
              </a:spcAft>
              <a:buNone/>
            </a:pPr>
            <a:r>
              <a:rPr lang="en-US" sz="2400" b="1" dirty="0">
                <a:solidFill>
                  <a:srgbClr val="1C1C1A"/>
                </a:solidFill>
                <a:latin typeface="Calibri" pitchFamily="34" charset="0"/>
                <a:ea typeface="Calibri" pitchFamily="34" charset="-122"/>
                <a:cs typeface="Calibri" pitchFamily="34" charset="-120"/>
              </a:rPr>
              <a:t>Describe = state the feature or characteristic in a full sentence with detail — more than naming it, but no reasoning about 'why' required.</a:t>
            </a:r>
            <a:endParaRPr lang="en-US" sz="2400" dirty="0"/>
          </a:p>
          <a:p>
            <a:pPr indent="0" marL="0">
              <a:spcAft>
                <a:spcPts val="800"/>
              </a:spcAft>
              <a:buNone/>
            </a:pPr>
            <a:r>
              <a:rPr lang="en-US" sz="1800" dirty="0">
                <a:solidFill>
                  <a:srgbClr val="5A1A5A"/>
                </a:solidFill>
                <a:latin typeface="Calibri" pitchFamily="34" charset="0"/>
                <a:ea typeface="Calibri" pitchFamily="34" charset="-122"/>
                <a:cs typeface="Calibri" pitchFamily="34" charset="-120"/>
              </a:rPr>
              <a:t>✗  'Socioeconomic status.' — a one-word answer with no detail earns no marks.</a:t>
            </a:r>
            <a:endParaRPr lang="en-US" sz="2400" dirty="0"/>
          </a:p>
          <a:p>
            <a:pPr indent="0" marL="0">
              <a:spcAft>
                <a:spcPts val="1800"/>
              </a:spcAft>
              <a:buNone/>
            </a:pPr>
            <a:r>
              <a:rPr lang="en-US" sz="1800" dirty="0">
                <a:solidFill>
                  <a:srgbClr val="15662F"/>
                </a:solidFill>
                <a:latin typeface="Calibri" pitchFamily="34" charset="0"/>
                <a:ea typeface="Calibri" pitchFamily="34" charset="-122"/>
                <a:cs typeface="Calibri" pitchFamily="34" charset="-120"/>
              </a:rPr>
              <a:t>✓  'Lower socioeconomic status can be a barrier because families cannot afford club fees or equipment.'</a:t>
            </a:r>
            <a:endParaRPr lang="en-US" sz="2400" dirty="0"/>
          </a:p>
          <a:p>
            <a:pPr indent="0" marL="0">
              <a:buNone/>
            </a:pPr>
            <a:r>
              <a:rPr lang="en-US" sz="1800" i="1" dirty="0">
                <a:solidFill>
                  <a:srgbClr val="1C1C1A"/>
                </a:solidFill>
                <a:latin typeface="Calibri" pitchFamily="34" charset="0"/>
                <a:ea typeface="Calibri" pitchFamily="34" charset="-122"/>
                <a:cs typeface="Calibri" pitchFamily="34" charset="-120"/>
              </a:rPr>
              <a:t>Why it matters: Examiners cannot award marks for a term alone — Describe requires elaboration in a full sentence to show understanding.</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PRACTICE — Sociocultural Factors — Short Answer (4 marks, 6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sp>
      <p:sp>
        <p:nvSpPr>
          <p:cNvPr id="8" name="Text 6"/>
          <p:cNvSpPr/>
          <p:nvPr/>
        </p:nvSpPr>
        <p:spPr>
          <a:xfrm>
            <a:off x="896112" y="1078992"/>
            <a:ext cx="107899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2400"/>
              </a:spcAft>
              <a:buNone/>
            </a:pPr>
            <a:r>
              <a:rPr lang="en-US" sz="2400" b="1" dirty="0">
                <a:solidFill>
                  <a:srgbClr val="1C1C1A"/>
                </a:solidFill>
                <a:latin typeface="Calibri" pitchFamily="34" charset="0"/>
                <a:ea typeface="Calibri" pitchFamily="34" charset="-122"/>
                <a:cs typeface="Calibri" pitchFamily="34" charset="-120"/>
              </a:rPr>
              <a:t>Describe how socioeconomic status could act as a barrier to a family's participation in a local AFL club.</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HOW TO APPROACH</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Step 1 — Describe: state the barrier as a full sentence, not just the word 'income' or 'cost'.</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Step 2 — Detail: name a specific cost (fees, boots, travel) affected by lower SES.</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Step 3 — Link: connect the cost back to why the family cannot participate.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PRACTICE — Modelled Answer (4 marks)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783080" cy="292608"/>
          </a:xfrm>
          <a:prstGeom prst="rect">
            <a:avLst/>
          </a:prstGeom>
          <a:solidFill>
            <a:srgbClr val="0A3A63"/>
          </a:solidFill>
          <a:ln w="12700">
            <a:solidFill>
              <a:srgbClr val="0A3A63"/>
            </a:solidFill>
            <a:prstDash val="solid"/>
          </a:ln>
        </p:spPr>
      </p:sp>
      <p:sp>
        <p:nvSpPr>
          <p:cNvPr id="8" name="Text 6"/>
          <p:cNvSpPr/>
          <p:nvPr/>
        </p:nvSpPr>
        <p:spPr>
          <a:xfrm>
            <a:off x="896112" y="1078992"/>
            <a:ext cx="1783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MODELLED ANSWER</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800"/>
              </a:spcAft>
              <a:buNone/>
            </a:pPr>
            <a:r>
              <a:rPr lang="en-US" sz="1800" dirty="0">
                <a:solidFill>
                  <a:srgbClr val="1C1C1A"/>
                </a:solidFill>
                <a:latin typeface="Calibri" pitchFamily="34" charset="0"/>
                <a:ea typeface="Calibri" pitchFamily="34" charset="-122"/>
                <a:cs typeface="Calibri" pitchFamily="34" charset="-120"/>
              </a:rPr>
              <a:t>A family with lower socioeconomic status may struggle to afford AFL club registration fees, boots and travel to training and matches. Because these costs add up across a season, the family may be unable to participate regularly, even if they want to.</a:t>
            </a:r>
            <a:endParaRPr lang="en-US" sz="18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MARKS AWARDED FOR</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Identifies cost/income as the barrier (1 mark)</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Names a specific cost — fees, boots, or travel (1 mark)</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Links cost to reduced or prevented participation (1 mark)</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Written as full-sentence detail, not a single word (1 mark)</a:t>
            </a:r>
            <a:endParaRPr lang="en-US" sz="1800" dirty="0"/>
          </a:p>
          <a:p>
            <a:pPr indent="0" marL="0">
              <a:buNone/>
            </a:pPr>
            <a:r>
              <a:rPr lang="en-US" sz="1800" i="1" dirty="0">
                <a:solidFill>
                  <a:srgbClr val="5A1A5A"/>
                </a:solidFill>
                <a:latin typeface="Calibri" pitchFamily="34" charset="0"/>
                <a:ea typeface="Calibri" pitchFamily="34" charset="-122"/>
                <a:cs typeface="Calibri" pitchFamily="34" charset="-120"/>
              </a:rPr>
              <a:t>Common error: Students write 'money' or 'SES' alone — no detail on what the cost is or how it affects participation, so no marks are awarded.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YOU DO — Enablers &amp; Barriers — Your Sport (20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1097280"/>
            <a:ext cx="10725912" cy="502920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Text 5"/>
          <p:cNvSpPr/>
          <p:nvPr/>
        </p:nvSpPr>
        <p:spPr>
          <a:xfrm>
            <a:off x="896112" y="1280160"/>
            <a:ext cx="10396728" cy="4663440"/>
          </a:xfrm>
          <a:prstGeom prst="rect">
            <a:avLst/>
          </a:prstGeom>
          <a:noFill/>
          <a:ln/>
        </p:spPr>
        <p:txBody>
          <a:bodyPr wrap="square" rtlCol="0" anchor="ctr"/>
          <a:lstStyle/>
          <a:p>
            <a:pPr algn="ctr" indent="0" marL="0">
              <a:spcAft>
                <a:spcPts val="1800"/>
              </a:spcAft>
              <a:buNone/>
            </a:pPr>
            <a:r>
              <a:rPr lang="en-US" sz="2800" b="1" dirty="0">
                <a:solidFill>
                  <a:srgbClr val="1C1C1A"/>
                </a:solidFill>
                <a:latin typeface="Calibri" pitchFamily="34" charset="0"/>
                <a:ea typeface="Calibri" pitchFamily="34" charset="-122"/>
                <a:cs typeface="Calibri" pitchFamily="34" charset="-120"/>
              </a:rPr>
              <a:t>Open the Challenge Continuum task on the portal</a:t>
            </a:r>
            <a:endParaRPr lang="en-US" sz="2800" dirty="0"/>
          </a:p>
          <a:p>
            <a:pPr algn="ctr" indent="0" marL="0">
              <a:spcAft>
                <a:spcPts val="1800"/>
              </a:spcAft>
              <a:buNone/>
            </a:pPr>
            <a:r>
              <a:rPr lang="en-US" sz="2200" dirty="0">
                <a:solidFill>
                  <a:srgbClr val="0A3A63"/>
                </a:solidFill>
                <a:latin typeface="Calibri" pitchFamily="34" charset="0"/>
                <a:ea typeface="Calibri" pitchFamily="34" charset="-122"/>
                <a:cs typeface="Calibri" pitchFamily="34" charset="-120"/>
              </a:rPr>
              <a:t>Enablers &amp; Barriers — Your Sport</a:t>
            </a:r>
            <a:endParaRPr lang="en-US" sz="2800" dirty="0"/>
          </a:p>
          <a:p>
            <a:pPr algn="ctr" indent="0" marL="0">
              <a:buNone/>
            </a:pPr>
            <a:r>
              <a:rPr lang="en-US" sz="2000" i="1" dirty="0">
                <a:solidFill>
                  <a:srgbClr val="1C1C1A"/>
                </a:solidFill>
                <a:latin typeface="Calibri" pitchFamily="34" charset="0"/>
                <a:ea typeface="Calibri" pitchFamily="34" charset="-122"/>
                <a:cs typeface="Calibri" pitchFamily="34" charset="-120"/>
              </a:rPr>
              <a:t>20 minutes</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EXIT CARD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Name TWO sociocultural factors that can act as both an enabler and a barrier to physical activity.</a:t>
            </a:r>
            <a:endParaRPr lang="en-US" sz="2400" dirty="0"/>
          </a:p>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A teenager's friends all play video games instead of sport. Is this an enabler or a barrier? Justify in one sentence.</a:t>
            </a:r>
            <a:endParaRPr lang="en-US" sz="2400" dirty="0"/>
          </a:p>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Describe ONE way an AFL club could reduce a socioeconomic barrier for new members.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81"/>
        </a:solidFill>
      </p:bgPr>
    </p:bg>
    <p:spTree>
      <p:nvGrpSpPr>
        <p:cNvPr id="1" name=""/>
        <p:cNvGrpSpPr/>
        <p:nvPr/>
      </p:nvGrpSpPr>
      <p:grpSpPr>
        <a:xfrm>
          <a:off x="0" y="0"/>
          <a:ext cx="0" cy="0"/>
          <a:chOff x="0" y="0"/>
          <a:chExt cx="0" cy="0"/>
        </a:xfrm>
      </p:grpSpPr>
      <p:sp>
        <p:nvSpPr>
          <p:cNvPr id="2" name="Shape 0"/>
          <p:cNvSpPr/>
          <p:nvPr/>
        </p:nvSpPr>
        <p:spPr>
          <a:xfrm>
            <a:off x="731520" y="548640"/>
            <a:ext cx="10725912" cy="5760720"/>
          </a:xfrm>
          <a:prstGeom prst="rect">
            <a:avLst/>
          </a:prstGeom>
          <a:solidFill>
            <a:srgbClr val="FFFFFF"/>
          </a:solidFill>
          <a:ln w="12700">
            <a:solidFill>
              <a:srgbClr val="FFFFFF"/>
            </a:solidFill>
            <a:prstDash val="solid"/>
          </a:ln>
          <a:effectLst>
            <a:outerShdw sx="100000" sy="100000" kx="0" ky="0" algn="bl" rotWithShape="0" blurRad="76200" dist="38100" dir="8100000">
              <a:srgbClr val="000000">
                <a:alpha val="12000"/>
              </a:srgbClr>
            </a:outerShdw>
          </a:effectLst>
        </p:spPr>
      </p:sp>
      <p:sp>
        <p:nvSpPr>
          <p:cNvPr id="3" name="Shape 1"/>
          <p:cNvSpPr/>
          <p:nvPr/>
        </p:nvSpPr>
        <p:spPr>
          <a:xfrm>
            <a:off x="896112" y="768096"/>
            <a:ext cx="2185416" cy="292608"/>
          </a:xfrm>
          <a:prstGeom prst="rect">
            <a:avLst/>
          </a:prstGeom>
          <a:solidFill>
            <a:srgbClr val="0A3A63"/>
          </a:solidFill>
          <a:ln w="12700">
            <a:solidFill>
              <a:srgbClr val="0A3A63"/>
            </a:solidFill>
            <a:prstDash val="solid"/>
          </a:ln>
        </p:spPr>
      </p:sp>
      <p:sp>
        <p:nvSpPr>
          <p:cNvPr id="4" name="Text 2"/>
          <p:cNvSpPr/>
          <p:nvPr/>
        </p:nvSpPr>
        <p:spPr>
          <a:xfrm>
            <a:off x="896112" y="768096"/>
            <a:ext cx="2185416"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 SHOULD NOW KNOW</a:t>
            </a:r>
            <a:endParaRPr lang="en-US" sz="1200" dirty="0"/>
          </a:p>
        </p:txBody>
      </p:sp>
      <p:sp>
        <p:nvSpPr>
          <p:cNvPr id="5" name="Text 3"/>
          <p:cNvSpPr/>
          <p:nvPr/>
        </p:nvSpPr>
        <p:spPr>
          <a:xfrm>
            <a:off x="896112" y="1207008"/>
            <a:ext cx="10396728" cy="4937760"/>
          </a:xfrm>
          <a:prstGeom prst="rect">
            <a:avLst/>
          </a:prstGeom>
          <a:noFill/>
          <a:ln/>
        </p:spPr>
        <p:txBody>
          <a:bodyPr wrap="square" rtlCol="0" anchor="t"/>
          <a:lstStyle/>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sociocultural enablers and barriers to individual physical activity behaviour</a:t>
            </a:r>
            <a:endParaRPr lang="en-US" sz="2000" dirty="0"/>
          </a:p>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such as gender, family, peers, socioeconomic status, community and cultural norms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Sociocultural Enablers and Barriers to Physical Activity</dc:title>
  <dc:subject>PptxGenJS Presentation</dc:subject>
  <dc:creator>PptxGenJS</dc:creator>
  <cp:lastModifiedBy>PptxGenJS</cp:lastModifiedBy>
  <cp:revision>1</cp:revision>
  <dcterms:created xsi:type="dcterms:W3CDTF">2026-07-13T06:54:57Z</dcterms:created>
  <dcterms:modified xsi:type="dcterms:W3CDTF">2026-07-13T06:54:57Z</dcterms:modified>
</cp:coreProperties>
</file>